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1326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1563093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85339501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1267031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652732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230944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52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448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722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9699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281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6253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32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2513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308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2743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1055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4125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072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7567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3188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211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4944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7535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2102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288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2778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1889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2092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2658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402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985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8700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166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422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95312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6343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7503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9607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2351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7477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5681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6878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6769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89941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6287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4196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7119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473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27859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03834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2076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678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0913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6603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0972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3454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lank">
    <p:bg>
      <p:bgPr shadeToTitle="0">
        <a:solidFill>
          <a:srgbClr val="F7F9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hyperlink" Target="https://educacionadistancia.juntadeandalucia.es/centros/almeria/login/index.php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JzI04oGNcVw" TargetMode="External"/><Relationship Id="rId5" Type="http://schemas.openxmlformats.org/officeDocument/2006/relationships/hyperlink" Target="https://www.youtube.com/watch?v=CauENcmaL80" TargetMode="Externa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B254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63980" name="Shape 0"/>
          <p:cNvSpPr/>
          <p:nvPr/>
        </p:nvSpPr>
        <p:spPr bwMode="auto">
          <a:xfrm>
            <a:off x="9966960" y="-1463040"/>
            <a:ext cx="3840480" cy="3840480"/>
          </a:xfrm>
          <a:prstGeom prst="ellipse">
            <a:avLst/>
          </a:prstGeom>
          <a:solidFill>
            <a:srgbClr val="133B6B"/>
          </a:solidFill>
          <a:ln/>
        </p:spPr>
      </p:sp>
      <p:sp>
        <p:nvSpPr>
          <p:cNvPr id="1512576157" name="Shape 1"/>
          <p:cNvSpPr/>
          <p:nvPr/>
        </p:nvSpPr>
        <p:spPr bwMode="auto">
          <a:xfrm>
            <a:off x="10881360" y="4937760"/>
            <a:ext cx="2743200" cy="2743200"/>
          </a:xfrm>
          <a:prstGeom prst="ellipse">
            <a:avLst/>
          </a:prstGeom>
          <a:solidFill>
            <a:srgbClr val="133B6B"/>
          </a:solidFill>
          <a:ln/>
        </p:spPr>
      </p:sp>
      <p:sp>
        <p:nvSpPr>
          <p:cNvPr id="2126537429" name="Shape 2"/>
          <p:cNvSpPr/>
          <p:nvPr/>
        </p:nvSpPr>
        <p:spPr bwMode="auto">
          <a:xfrm>
            <a:off x="640080" y="640080"/>
            <a:ext cx="822960" cy="822960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551430959" name="Image 0" descr="/home/claude/daw-ppt/icons/smile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5246" y="825246"/>
            <a:ext cx="452628" cy="452628"/>
          </a:xfrm>
          <a:prstGeom prst="rect">
            <a:avLst/>
          </a:prstGeom>
        </p:spPr>
      </p:pic>
      <p:sp>
        <p:nvSpPr>
          <p:cNvPr id="1072475749" name="Text 3"/>
          <p:cNvSpPr/>
          <p:nvPr/>
        </p:nvSpPr>
        <p:spPr bwMode="auto">
          <a:xfrm>
            <a:off x="640080" y="1691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IES JAROSO  ·  CUEVAS DE ALMANZORA  ·  ANDALUCÍA</a:t>
            </a:r>
            <a:endParaRPr lang="en-US" sz="1400"/>
          </a:p>
        </p:txBody>
      </p:sp>
      <p:sp>
        <p:nvSpPr>
          <p:cNvPr id="1574108728" name="Text 4"/>
          <p:cNvSpPr/>
          <p:nvPr/>
        </p:nvSpPr>
        <p:spPr bwMode="auto">
          <a:xfrm>
            <a:off x="640080" y="214884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CFGS de</a:t>
            </a:r>
            <a:r>
              <a:rPr lang="es-ES" sz="4200"/>
              <a:t> </a:t>
            </a: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Desarrollo de Aplicaciones Web</a:t>
            </a:r>
            <a:endParaRPr lang="en-US" sz="4200"/>
          </a:p>
        </p:txBody>
      </p:sp>
      <p:sp>
        <p:nvSpPr>
          <p:cNvPr id="369807307" name="Text 5"/>
          <p:cNvSpPr/>
          <p:nvPr/>
        </p:nvSpPr>
        <p:spPr bwMode="auto">
          <a:xfrm>
            <a:off x="640080" y="416051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C9D6E3"/>
                </a:solidFill>
                <a:latin typeface="Calibri"/>
                <a:ea typeface="Calibri"/>
                <a:cs typeface="Calibri"/>
              </a:rPr>
              <a:t>Sesión de presentación · Curso 2026/2027</a:t>
            </a:r>
            <a:endParaRPr lang="en-US" sz="1800"/>
          </a:p>
        </p:txBody>
      </p:sp>
      <p:sp>
        <p:nvSpPr>
          <p:cNvPr id="1096306953" name="Shape 6"/>
          <p:cNvSpPr/>
          <p:nvPr/>
        </p:nvSpPr>
        <p:spPr bwMode="auto">
          <a:xfrm>
            <a:off x="658368" y="4709160"/>
            <a:ext cx="1280160" cy="0"/>
          </a:xfrm>
          <a:prstGeom prst="line">
            <a:avLst/>
          </a:prstGeom>
          <a:noFill/>
          <a:ln w="38100">
            <a:solidFill>
              <a:srgbClr val="FF7A33"/>
            </a:solidFill>
            <a:prstDash val="solid"/>
          </a:ln>
        </p:spPr>
      </p:sp>
      <p:sp>
        <p:nvSpPr>
          <p:cNvPr id="833333064" name="Text 7"/>
          <p:cNvSpPr/>
          <p:nvPr/>
        </p:nvSpPr>
        <p:spPr bwMode="auto">
          <a:xfrm>
            <a:off x="64008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8FA3B8"/>
                </a:solidFill>
                <a:latin typeface="Calibri"/>
                <a:ea typeface="Calibri"/>
                <a:cs typeface="Calibri"/>
              </a:rPr>
              <a:t>Martes, 15 de septiembre de 2026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21385" name="Text 0"/>
          <p:cNvSpPr/>
          <p:nvPr/>
        </p:nvSpPr>
        <p:spPr bwMode="auto"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BIENVENIDA</a:t>
            </a:r>
            <a:endParaRPr lang="en-US" sz="1300"/>
          </a:p>
        </p:txBody>
      </p:sp>
      <p:sp>
        <p:nvSpPr>
          <p:cNvPr id="130440017" name="Text 1"/>
          <p:cNvSpPr/>
          <p:nvPr/>
        </p:nvSpPr>
        <p:spPr bwMode="auto"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¡Enhorabuena por empezar este camino!</a:t>
            </a:r>
            <a:endParaRPr lang="en-US" sz="3200"/>
          </a:p>
        </p:txBody>
      </p:sp>
      <p:sp>
        <p:nvSpPr>
          <p:cNvPr id="943783296" name="Text 2"/>
          <p:cNvSpPr/>
          <p:nvPr/>
        </p:nvSpPr>
        <p:spPr bwMode="auto">
          <a:xfrm>
            <a:off x="640080" y="187452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999"/>
              </a:lnSpc>
              <a:spcAft>
                <a:spcPts val="1000"/>
              </a:spcAft>
              <a:buNone/>
              <a:defRPr/>
            </a:pPr>
            <a:r>
              <a:rPr lang="en-US" sz="18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Habéis elegido un ciclo formativo con muchísima salida profesional, en pleno crecimiento y muy conectado con la realidad tecnológica de nuestra comarca. </a:t>
            </a:r>
            <a:endParaRPr lang="en-US" sz="1800"/>
          </a:p>
          <a:p>
            <a:pPr marL="0" indent="0">
              <a:lnSpc>
                <a:spcPct val="114999"/>
              </a:lnSpc>
              <a:spcAft>
                <a:spcPts val="1000"/>
              </a:spcAft>
              <a:buNone/>
              <a:defRPr/>
            </a:pPr>
            <a:r>
              <a:rPr lang="en-US" sz="18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Durante estos dos cursos vais a aprender a programar, diseñar y desplegar aplicaciones web reales, trabajando además con empresas de nuestro entorno. </a:t>
            </a:r>
            <a:endParaRPr lang="en-US" sz="180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8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Hoy es solo el primer día: iremos resolviendo dudas y ajustando lo que veamos juntos durante el curso.</a:t>
            </a:r>
            <a:endParaRPr lang="en-US" sz="1800"/>
          </a:p>
        </p:txBody>
      </p:sp>
      <p:sp>
        <p:nvSpPr>
          <p:cNvPr id="502225066" name="Text 3"/>
          <p:cNvSpPr/>
          <p:nvPr/>
        </p:nvSpPr>
        <p:spPr bwMode="auto">
          <a:xfrm>
            <a:off x="626364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HOY VEMOS</a:t>
            </a:r>
            <a:endParaRPr lang="en-US" sz="1200"/>
          </a:p>
        </p:txBody>
      </p:sp>
      <p:sp>
        <p:nvSpPr>
          <p:cNvPr id="11968747" name="Shape 4"/>
          <p:cNvSpPr/>
          <p:nvPr/>
        </p:nvSpPr>
        <p:spPr bwMode="auto">
          <a:xfrm>
            <a:off x="6263640" y="1874520"/>
            <a:ext cx="384048" cy="384048"/>
          </a:xfrm>
          <a:prstGeom prst="ellipse">
            <a:avLst/>
          </a:prstGeom>
          <a:solidFill>
            <a:srgbClr val="12A8A0"/>
          </a:solidFill>
          <a:ln/>
        </p:spPr>
      </p:sp>
      <p:sp>
        <p:nvSpPr>
          <p:cNvPr id="1053197563" name="Text 5"/>
          <p:cNvSpPr/>
          <p:nvPr/>
        </p:nvSpPr>
        <p:spPr bwMode="auto">
          <a:xfrm>
            <a:off x="62636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400"/>
          </a:p>
        </p:txBody>
      </p:sp>
      <p:sp>
        <p:nvSpPr>
          <p:cNvPr id="780286316" name="Text 6"/>
          <p:cNvSpPr/>
          <p:nvPr/>
        </p:nvSpPr>
        <p:spPr bwMode="auto">
          <a:xfrm>
            <a:off x="6784848" y="1856232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Qué es el ciclo y cómo se organiza</a:t>
            </a:r>
            <a:endParaRPr lang="en-US" sz="1600"/>
          </a:p>
        </p:txBody>
      </p:sp>
      <p:sp>
        <p:nvSpPr>
          <p:cNvPr id="1168678789" name="Shape 7"/>
          <p:cNvSpPr/>
          <p:nvPr/>
        </p:nvSpPr>
        <p:spPr bwMode="auto">
          <a:xfrm>
            <a:off x="6263640" y="2532888"/>
            <a:ext cx="384048" cy="384048"/>
          </a:xfrm>
          <a:prstGeom prst="ellipse">
            <a:avLst/>
          </a:prstGeom>
          <a:solidFill>
            <a:srgbClr val="FF7A33"/>
          </a:solidFill>
          <a:ln/>
        </p:spPr>
      </p:sp>
      <p:sp>
        <p:nvSpPr>
          <p:cNvPr id="429656285" name="Text 8"/>
          <p:cNvSpPr/>
          <p:nvPr/>
        </p:nvSpPr>
        <p:spPr bwMode="auto">
          <a:xfrm>
            <a:off x="6263640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400"/>
          </a:p>
        </p:txBody>
      </p:sp>
      <p:sp>
        <p:nvSpPr>
          <p:cNvPr id="922793894" name="Text 9"/>
          <p:cNvSpPr/>
          <p:nvPr/>
        </p:nvSpPr>
        <p:spPr bwMode="auto">
          <a:xfrm>
            <a:off x="6784848" y="25146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Módulos y horario de 1º y 2º curso</a:t>
            </a:r>
            <a:endParaRPr lang="en-US" sz="1600"/>
          </a:p>
        </p:txBody>
      </p:sp>
      <p:sp>
        <p:nvSpPr>
          <p:cNvPr id="1688595490" name="Shape 10"/>
          <p:cNvSpPr/>
          <p:nvPr/>
        </p:nvSpPr>
        <p:spPr bwMode="auto">
          <a:xfrm>
            <a:off x="6263640" y="3191256"/>
            <a:ext cx="384048" cy="384048"/>
          </a:xfrm>
          <a:prstGeom prst="ellipse">
            <a:avLst/>
          </a:prstGeom>
          <a:solidFill>
            <a:srgbClr val="12A8A0"/>
          </a:solidFill>
          <a:ln/>
        </p:spPr>
      </p:sp>
      <p:sp>
        <p:nvSpPr>
          <p:cNvPr id="394537480" name="Text 11"/>
          <p:cNvSpPr/>
          <p:nvPr/>
        </p:nvSpPr>
        <p:spPr bwMode="auto">
          <a:xfrm>
            <a:off x="626364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400"/>
          </a:p>
        </p:txBody>
      </p:sp>
      <p:sp>
        <p:nvSpPr>
          <p:cNvPr id="1390444876" name="Text 12"/>
          <p:cNvSpPr/>
          <p:nvPr/>
        </p:nvSpPr>
        <p:spPr bwMode="auto">
          <a:xfrm>
            <a:off x="6784848" y="3172968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La nueva Formación Dual en empresa</a:t>
            </a:r>
            <a:endParaRPr lang="en-US" sz="1600"/>
          </a:p>
        </p:txBody>
      </p:sp>
      <p:sp>
        <p:nvSpPr>
          <p:cNvPr id="701944722" name="Shape 13"/>
          <p:cNvSpPr/>
          <p:nvPr/>
        </p:nvSpPr>
        <p:spPr bwMode="auto">
          <a:xfrm>
            <a:off x="6263640" y="3849624"/>
            <a:ext cx="384048" cy="384048"/>
          </a:xfrm>
          <a:prstGeom prst="ellipse">
            <a:avLst/>
          </a:prstGeom>
          <a:solidFill>
            <a:srgbClr val="FF7A33"/>
          </a:solidFill>
          <a:ln/>
        </p:spPr>
      </p:sp>
      <p:sp>
        <p:nvSpPr>
          <p:cNvPr id="818047278" name="Text 14"/>
          <p:cNvSpPr/>
          <p:nvPr/>
        </p:nvSpPr>
        <p:spPr bwMode="auto">
          <a:xfrm>
            <a:off x="6263640" y="3849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400"/>
          </a:p>
        </p:txBody>
      </p:sp>
      <p:sp>
        <p:nvSpPr>
          <p:cNvPr id="635309182" name="Text 15"/>
          <p:cNvSpPr/>
          <p:nvPr/>
        </p:nvSpPr>
        <p:spPr bwMode="auto">
          <a:xfrm>
            <a:off x="6784848" y="3831336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Erasmus+, empresas colaboradoras y AWS Academy</a:t>
            </a:r>
            <a:endParaRPr lang="en-US" sz="1600"/>
          </a:p>
        </p:txBody>
      </p:sp>
      <p:sp>
        <p:nvSpPr>
          <p:cNvPr id="1591659423" name="Shape 16"/>
          <p:cNvSpPr/>
          <p:nvPr/>
        </p:nvSpPr>
        <p:spPr bwMode="auto">
          <a:xfrm>
            <a:off x="6263640" y="4507992"/>
            <a:ext cx="384048" cy="384048"/>
          </a:xfrm>
          <a:prstGeom prst="ellipse">
            <a:avLst/>
          </a:prstGeom>
          <a:solidFill>
            <a:srgbClr val="12A8A0"/>
          </a:solidFill>
          <a:ln/>
        </p:spPr>
      </p:sp>
      <p:sp>
        <p:nvSpPr>
          <p:cNvPr id="778054160" name="Text 17"/>
          <p:cNvSpPr/>
          <p:nvPr/>
        </p:nvSpPr>
        <p:spPr bwMode="auto">
          <a:xfrm>
            <a:off x="6263640" y="4507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400"/>
          </a:p>
        </p:txBody>
      </p:sp>
      <p:sp>
        <p:nvSpPr>
          <p:cNvPr id="417700510" name="Text 18"/>
          <p:cNvSpPr/>
          <p:nvPr/>
        </p:nvSpPr>
        <p:spPr bwMode="auto">
          <a:xfrm>
            <a:off x="6784848" y="4489704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Normas de clase y forma de trabajar</a:t>
            </a:r>
            <a:endParaRPr lang="en-US" sz="1600"/>
          </a:p>
        </p:txBody>
      </p:sp>
      <p:sp>
        <p:nvSpPr>
          <p:cNvPr id="59821109" name="Shape 19"/>
          <p:cNvSpPr/>
          <p:nvPr/>
        </p:nvSpPr>
        <p:spPr bwMode="auto">
          <a:xfrm>
            <a:off x="6263640" y="5166360"/>
            <a:ext cx="384048" cy="384048"/>
          </a:xfrm>
          <a:prstGeom prst="ellipse">
            <a:avLst/>
          </a:prstGeom>
          <a:solidFill>
            <a:srgbClr val="FF7A33"/>
          </a:solidFill>
          <a:ln/>
        </p:spPr>
      </p:sp>
      <p:sp>
        <p:nvSpPr>
          <p:cNvPr id="2022914908" name="Text 20"/>
          <p:cNvSpPr/>
          <p:nvPr/>
        </p:nvSpPr>
        <p:spPr bwMode="auto">
          <a:xfrm>
            <a:off x="6263640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400"/>
          </a:p>
        </p:txBody>
      </p:sp>
      <p:sp>
        <p:nvSpPr>
          <p:cNvPr id="1614929818" name="Text 21"/>
          <p:cNvSpPr/>
          <p:nvPr/>
        </p:nvSpPr>
        <p:spPr bwMode="auto">
          <a:xfrm>
            <a:off x="6784848" y="5148072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Ser programador/a hoy, en la era de la IA</a:t>
            </a:r>
            <a:endParaRPr lang="en-US" sz="1600"/>
          </a:p>
        </p:txBody>
      </p:sp>
      <p:sp>
        <p:nvSpPr>
          <p:cNvPr id="469869496" name="Text 22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1860966891" name="Text 23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604793" name="Text 0"/>
          <p:cNvSpPr/>
          <p:nvPr/>
        </p:nvSpPr>
        <p:spPr bwMode="auto"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EL CICLO FORMATIVO</a:t>
            </a:r>
            <a:endParaRPr lang="en-US" sz="1300"/>
          </a:p>
        </p:txBody>
      </p:sp>
      <p:sp>
        <p:nvSpPr>
          <p:cNvPr id="2048953441" name="Text 1"/>
          <p:cNvSpPr/>
          <p:nvPr/>
        </p:nvSpPr>
        <p:spPr bwMode="auto"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¿Qué es el CFGS de Desarrollo de Aplicaciones Web?</a:t>
            </a:r>
            <a:endParaRPr lang="en-US" sz="3200"/>
          </a:p>
        </p:txBody>
      </p:sp>
      <p:sp>
        <p:nvSpPr>
          <p:cNvPr id="391010380" name="Text 2"/>
          <p:cNvSpPr/>
          <p:nvPr/>
        </p:nvSpPr>
        <p:spPr bwMode="auto">
          <a:xfrm>
            <a:off x="640080" y="187452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999"/>
              </a:lnSpc>
              <a:spcAft>
                <a:spcPts val="800"/>
              </a:spcAft>
              <a:buNone/>
              <a:defRPr/>
            </a:pPr>
            <a:r>
              <a:rPr lang="en-US" sz="18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Es un Ciclo Formativo de Grado Superior de la familia profesional de Informática y Comunicaciones. </a:t>
            </a:r>
            <a:endParaRPr lang="en-US" sz="1800"/>
          </a:p>
          <a:p>
            <a:pPr marL="0" indent="0">
              <a:lnSpc>
                <a:spcPct val="114999"/>
              </a:lnSpc>
              <a:spcAft>
                <a:spcPts val="800"/>
              </a:spcAft>
              <a:buNone/>
              <a:defRPr/>
            </a:pPr>
            <a:r>
              <a:rPr lang="en-US" sz="18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Forma profesionales capaces de diseñar, desarrollar, implantar y mantener aplicaciones web, tanto en el lado del cliente como del servidor, trabajando con bases de datos, servidores y entornos en la nube.</a:t>
            </a:r>
            <a:endParaRPr lang="en-US" sz="180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8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Al terminar se obtiene el título de Técnico Superior, con acceso directo a cualquier Grado universitario.</a:t>
            </a:r>
            <a:endParaRPr lang="en-US" sz="1550"/>
          </a:p>
        </p:txBody>
      </p:sp>
      <p:sp>
        <p:nvSpPr>
          <p:cNvPr id="1974322814" name="Shape 3"/>
          <p:cNvSpPr/>
          <p:nvPr/>
        </p:nvSpPr>
        <p:spPr bwMode="auto">
          <a:xfrm>
            <a:off x="7452360" y="192024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blurRad="76200" dist="25400" dir="5400000" sx="100000" sy="100000" kx="0" ky="0" algn="bl" rotWithShape="0">
              <a:srgbClr val="223A5E">
                <a:alpha val="12000"/>
              </a:srgbClr>
            </a:outerShdw>
          </a:effectLst>
        </p:spPr>
      </p:sp>
      <p:sp>
        <p:nvSpPr>
          <p:cNvPr id="896198606" name="Text 4"/>
          <p:cNvSpPr/>
          <p:nvPr/>
        </p:nvSpPr>
        <p:spPr bwMode="auto">
          <a:xfrm>
            <a:off x="7452360" y="19933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2</a:t>
            </a:r>
            <a:endParaRPr lang="en-US" sz="3000"/>
          </a:p>
        </p:txBody>
      </p:sp>
      <p:sp>
        <p:nvSpPr>
          <p:cNvPr id="55890722" name="Text 5"/>
          <p:cNvSpPr/>
          <p:nvPr/>
        </p:nvSpPr>
        <p:spPr bwMode="auto">
          <a:xfrm>
            <a:off x="7452360" y="26334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CURSOS ACADÉMICOS</a:t>
            </a:r>
            <a:endParaRPr lang="en-US" sz="1400"/>
          </a:p>
        </p:txBody>
      </p:sp>
      <p:sp>
        <p:nvSpPr>
          <p:cNvPr id="1736362024" name="Shape 6"/>
          <p:cNvSpPr/>
          <p:nvPr/>
        </p:nvSpPr>
        <p:spPr bwMode="auto">
          <a:xfrm>
            <a:off x="7452360" y="333756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blurRad="76200" dist="25400" dir="5400000" sx="100000" sy="100000" kx="0" ky="0" algn="bl" rotWithShape="0">
              <a:srgbClr val="223A5E">
                <a:alpha val="12000"/>
              </a:srgbClr>
            </a:outerShdw>
          </a:effectLst>
        </p:spPr>
      </p:sp>
      <p:sp>
        <p:nvSpPr>
          <p:cNvPr id="1430354680" name="Text 7"/>
          <p:cNvSpPr/>
          <p:nvPr/>
        </p:nvSpPr>
        <p:spPr bwMode="auto">
          <a:xfrm>
            <a:off x="7452360" y="341071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2000h</a:t>
            </a:r>
            <a:endParaRPr lang="en-US" sz="3000"/>
          </a:p>
        </p:txBody>
      </p:sp>
      <p:sp>
        <p:nvSpPr>
          <p:cNvPr id="682267885" name="Text 8"/>
          <p:cNvSpPr/>
          <p:nvPr/>
        </p:nvSpPr>
        <p:spPr bwMode="auto">
          <a:xfrm>
            <a:off x="7452360" y="40507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HORAS TOTALES DEL CICLO</a:t>
            </a:r>
            <a:endParaRPr lang="en-US" sz="1400"/>
          </a:p>
        </p:txBody>
      </p:sp>
      <p:sp>
        <p:nvSpPr>
          <p:cNvPr id="476150281" name="Shape 9"/>
          <p:cNvSpPr/>
          <p:nvPr/>
        </p:nvSpPr>
        <p:spPr bwMode="auto">
          <a:xfrm>
            <a:off x="7452360" y="47548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blurRad="76200" dist="25400" dir="5400000" sx="100000" sy="100000" kx="0" ky="0" algn="bl" rotWithShape="0">
              <a:srgbClr val="223A5E">
                <a:alpha val="12000"/>
              </a:srgbClr>
            </a:outerShdw>
          </a:effectLst>
        </p:spPr>
      </p:sp>
      <p:sp>
        <p:nvSpPr>
          <p:cNvPr id="787576274" name="Text 10"/>
          <p:cNvSpPr/>
          <p:nvPr/>
        </p:nvSpPr>
        <p:spPr bwMode="auto">
          <a:xfrm>
            <a:off x="7452360" y="48280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12A8A0"/>
                </a:solidFill>
                <a:latin typeface="Cambria"/>
                <a:ea typeface="Cambria"/>
                <a:cs typeface="Cambria"/>
              </a:rPr>
              <a:t>DAW</a:t>
            </a:r>
            <a:endParaRPr lang="en-US" sz="2600"/>
          </a:p>
        </p:txBody>
      </p:sp>
      <p:sp>
        <p:nvSpPr>
          <p:cNvPr id="725208263" name="Text 11"/>
          <p:cNvSpPr/>
          <p:nvPr/>
        </p:nvSpPr>
        <p:spPr bwMode="auto">
          <a:xfrm>
            <a:off x="7452360" y="54681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TÍTULO: TÉCNICO SUPERIOR</a:t>
            </a:r>
            <a:endParaRPr lang="en-US" sz="1400"/>
          </a:p>
        </p:txBody>
      </p:sp>
      <p:sp>
        <p:nvSpPr>
          <p:cNvPr id="1401997054" name="Text 12"/>
          <p:cNvSpPr/>
          <p:nvPr/>
        </p:nvSpPr>
        <p:spPr bwMode="auto">
          <a:xfrm>
            <a:off x="640080" y="5669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Familia profesional: Informática y Comunicaciones  ·  Modalidad presencial</a:t>
            </a:r>
            <a:endParaRPr lang="en-US" sz="1250"/>
          </a:p>
        </p:txBody>
      </p:sp>
      <p:sp>
        <p:nvSpPr>
          <p:cNvPr id="968266763" name="Text 13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974154261" name="Text 14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B254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892408" name="Shape 0"/>
          <p:cNvSpPr/>
          <p:nvPr/>
        </p:nvSpPr>
        <p:spPr bwMode="auto">
          <a:xfrm>
            <a:off x="640080" y="640080"/>
            <a:ext cx="777240" cy="777240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1098283830" name="Image 0" descr="/home/claude/daw-ppt/icons/laptop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4959" y="814959"/>
            <a:ext cx="427482" cy="427482"/>
          </a:xfrm>
          <a:prstGeom prst="rect">
            <a:avLst/>
          </a:prstGeom>
        </p:spPr>
      </p:pic>
      <p:sp>
        <p:nvSpPr>
          <p:cNvPr id="1635999158" name="Text 1"/>
          <p:cNvSpPr/>
          <p:nvPr/>
        </p:nvSpPr>
        <p:spPr bwMode="auto">
          <a:xfrm>
            <a:off x="1600200" y="7132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EL OFICIO</a:t>
            </a:r>
            <a:endParaRPr lang="en-US" sz="1300"/>
          </a:p>
        </p:txBody>
      </p:sp>
      <p:sp>
        <p:nvSpPr>
          <p:cNvPr id="1655010164" name="Text 2"/>
          <p:cNvSpPr/>
          <p:nvPr/>
        </p:nvSpPr>
        <p:spPr bwMode="auto">
          <a:xfrm>
            <a:off x="640080" y="15544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¿Qué significa ser programador o programadora hoy?</a:t>
            </a:r>
            <a:endParaRPr lang="en-US" sz="3000"/>
          </a:p>
        </p:txBody>
      </p:sp>
      <p:sp>
        <p:nvSpPr>
          <p:cNvPr id="1587754023" name="Shape 3"/>
          <p:cNvSpPr/>
          <p:nvPr/>
        </p:nvSpPr>
        <p:spPr bwMode="auto">
          <a:xfrm>
            <a:off x="640080" y="27889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33B6B"/>
          </a:solidFill>
          <a:ln/>
        </p:spPr>
      </p:sp>
      <p:sp>
        <p:nvSpPr>
          <p:cNvPr id="338090604" name="Shape 4"/>
          <p:cNvSpPr/>
          <p:nvPr/>
        </p:nvSpPr>
        <p:spPr bwMode="auto">
          <a:xfrm>
            <a:off x="960120" y="3108960"/>
            <a:ext cx="502920" cy="502920"/>
          </a:xfrm>
          <a:prstGeom prst="ellipse">
            <a:avLst/>
          </a:prstGeom>
          <a:solidFill>
            <a:srgbClr val="12A8A0"/>
          </a:solidFill>
          <a:ln/>
        </p:spPr>
      </p:sp>
      <p:sp>
        <p:nvSpPr>
          <p:cNvPr id="376465134" name="Text 5"/>
          <p:cNvSpPr/>
          <p:nvPr/>
        </p:nvSpPr>
        <p:spPr bwMode="auto">
          <a:xfrm>
            <a:off x="9601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600"/>
          </a:p>
        </p:txBody>
      </p:sp>
      <p:sp>
        <p:nvSpPr>
          <p:cNvPr id="1015283071" name="Text 6"/>
          <p:cNvSpPr/>
          <p:nvPr/>
        </p:nvSpPr>
        <p:spPr bwMode="auto">
          <a:xfrm>
            <a:off x="960120" y="3749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Resolver problemas</a:t>
            </a:r>
            <a:endParaRPr lang="en-US" sz="2000"/>
          </a:p>
        </p:txBody>
      </p:sp>
      <p:sp>
        <p:nvSpPr>
          <p:cNvPr id="844782543" name="Text 7"/>
          <p:cNvSpPr/>
          <p:nvPr/>
        </p:nvSpPr>
        <p:spPr bwMode="auto">
          <a:xfrm>
            <a:off x="960120" y="420624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600">
                <a:solidFill>
                  <a:srgbClr val="C9D6E3"/>
                </a:solidFill>
                <a:latin typeface="Calibri"/>
                <a:ea typeface="Calibri"/>
                <a:cs typeface="Calibri"/>
              </a:rPr>
              <a:t>Programar es, ante todo, descomponer problemas reales y diseñar soluciones — el lenguaje es solo la herramienta.</a:t>
            </a:r>
            <a:endParaRPr lang="en-US" sz="1600"/>
          </a:p>
        </p:txBody>
      </p:sp>
      <p:sp>
        <p:nvSpPr>
          <p:cNvPr id="746151422" name="Shape 8"/>
          <p:cNvSpPr/>
          <p:nvPr/>
        </p:nvSpPr>
        <p:spPr bwMode="auto">
          <a:xfrm>
            <a:off x="4434840" y="27889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33B6B"/>
          </a:solidFill>
          <a:ln/>
        </p:spPr>
      </p:sp>
      <p:sp>
        <p:nvSpPr>
          <p:cNvPr id="1508038521" name="Shape 9"/>
          <p:cNvSpPr/>
          <p:nvPr/>
        </p:nvSpPr>
        <p:spPr bwMode="auto">
          <a:xfrm>
            <a:off x="4754880" y="3108960"/>
            <a:ext cx="502920" cy="502920"/>
          </a:xfrm>
          <a:prstGeom prst="ellipse">
            <a:avLst/>
          </a:prstGeom>
          <a:solidFill>
            <a:srgbClr val="12A8A0"/>
          </a:solidFill>
          <a:ln/>
        </p:spPr>
      </p:sp>
      <p:sp>
        <p:nvSpPr>
          <p:cNvPr id="401628851" name="Text 10"/>
          <p:cNvSpPr/>
          <p:nvPr/>
        </p:nvSpPr>
        <p:spPr bwMode="auto">
          <a:xfrm>
            <a:off x="47548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600"/>
          </a:p>
        </p:txBody>
      </p:sp>
      <p:sp>
        <p:nvSpPr>
          <p:cNvPr id="1896074412" name="Text 11"/>
          <p:cNvSpPr/>
          <p:nvPr/>
        </p:nvSpPr>
        <p:spPr bwMode="auto">
          <a:xfrm>
            <a:off x="4754880" y="3749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Trabajar en equipo</a:t>
            </a:r>
            <a:endParaRPr lang="en-US" sz="2000"/>
          </a:p>
        </p:txBody>
      </p:sp>
      <p:sp>
        <p:nvSpPr>
          <p:cNvPr id="1314154138" name="Text 12"/>
          <p:cNvSpPr/>
          <p:nvPr/>
        </p:nvSpPr>
        <p:spPr bwMode="auto">
          <a:xfrm>
            <a:off x="4754880" y="420624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600">
                <a:solidFill>
                  <a:srgbClr val="C9D6E3"/>
                </a:solidFill>
                <a:latin typeface="Calibri"/>
                <a:ea typeface="Calibri"/>
                <a:cs typeface="Calibri"/>
              </a:rPr>
              <a:t>Control de versiones (Git), metodologías ágiles y revisión de código son parte del día a día profesional.</a:t>
            </a:r>
            <a:endParaRPr lang="en-US" sz="1600"/>
          </a:p>
        </p:txBody>
      </p:sp>
      <p:sp>
        <p:nvSpPr>
          <p:cNvPr id="831574781" name="Shape 13"/>
          <p:cNvSpPr/>
          <p:nvPr/>
        </p:nvSpPr>
        <p:spPr bwMode="auto">
          <a:xfrm>
            <a:off x="8229600" y="27889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33B6B"/>
          </a:solidFill>
          <a:ln/>
        </p:spPr>
      </p:sp>
      <p:sp>
        <p:nvSpPr>
          <p:cNvPr id="1750623892" name="Shape 14"/>
          <p:cNvSpPr/>
          <p:nvPr/>
        </p:nvSpPr>
        <p:spPr bwMode="auto">
          <a:xfrm>
            <a:off x="8549640" y="3108960"/>
            <a:ext cx="502920" cy="502920"/>
          </a:xfrm>
          <a:prstGeom prst="ellipse">
            <a:avLst/>
          </a:prstGeom>
          <a:solidFill>
            <a:srgbClr val="12A8A0"/>
          </a:solidFill>
          <a:ln/>
        </p:spPr>
      </p:sp>
      <p:sp>
        <p:nvSpPr>
          <p:cNvPr id="896331885" name="Text 15"/>
          <p:cNvSpPr/>
          <p:nvPr/>
        </p:nvSpPr>
        <p:spPr bwMode="auto">
          <a:xfrm>
            <a:off x="85496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600"/>
          </a:p>
        </p:txBody>
      </p:sp>
      <p:sp>
        <p:nvSpPr>
          <p:cNvPr id="79419749" name="Text 16"/>
          <p:cNvSpPr/>
          <p:nvPr/>
        </p:nvSpPr>
        <p:spPr bwMode="auto">
          <a:xfrm>
            <a:off x="8549640" y="3749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Aprender sin parar</a:t>
            </a:r>
            <a:endParaRPr lang="en-US" sz="2000"/>
          </a:p>
        </p:txBody>
      </p:sp>
      <p:sp>
        <p:nvSpPr>
          <p:cNvPr id="1790442939" name="Text 17"/>
          <p:cNvSpPr/>
          <p:nvPr/>
        </p:nvSpPr>
        <p:spPr bwMode="auto">
          <a:xfrm>
            <a:off x="8549640" y="420624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600">
                <a:solidFill>
                  <a:srgbClr val="C9D6E3"/>
                </a:solidFill>
                <a:latin typeface="Calibri"/>
                <a:ea typeface="Calibri"/>
                <a:cs typeface="Calibri"/>
              </a:rPr>
              <a:t>Frameworks, lenguajes y herramientas cambian constantemente: la base sólida importa más que la moda del momento.</a:t>
            </a:r>
            <a:endParaRPr lang="en-US" sz="1600"/>
          </a:p>
        </p:txBody>
      </p:sp>
      <p:sp>
        <p:nvSpPr>
          <p:cNvPr id="1976445280" name="Text 18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817171678" name="Text 19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4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563726" name="Text 0"/>
          <p:cNvSpPr/>
          <p:nvPr/>
        </p:nvSpPr>
        <p:spPr bwMode="auto"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EL CONTEXTO ACTUAL</a:t>
            </a:r>
            <a:endParaRPr lang="en-US" sz="1300"/>
          </a:p>
        </p:txBody>
      </p:sp>
      <p:sp>
        <p:nvSpPr>
          <p:cNvPr id="1018618087" name="Text 1"/>
          <p:cNvSpPr/>
          <p:nvPr/>
        </p:nvSpPr>
        <p:spPr bwMode="auto"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La irrupción de la IA generativa en la programación</a:t>
            </a:r>
            <a:endParaRPr lang="en-US" sz="3200"/>
          </a:p>
        </p:txBody>
      </p:sp>
      <p:sp>
        <p:nvSpPr>
          <p:cNvPr id="2134692878" name="Shape 2"/>
          <p:cNvSpPr/>
          <p:nvPr/>
        </p:nvSpPr>
        <p:spPr bwMode="auto">
          <a:xfrm>
            <a:off x="9509760" y="1737360"/>
            <a:ext cx="1554480" cy="1554480"/>
          </a:xfrm>
          <a:prstGeom prst="ellipse">
            <a:avLst/>
          </a:prstGeom>
          <a:solidFill>
            <a:srgbClr val="12A8A0"/>
          </a:solidFill>
          <a:ln/>
        </p:spPr>
      </p:sp>
      <p:pic>
        <p:nvPicPr>
          <p:cNvPr id="1828081178" name="Image 0" descr="/home/claude/daw-ppt/icons/brain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859518" y="2087117"/>
            <a:ext cx="854964" cy="854964"/>
          </a:xfrm>
          <a:prstGeom prst="rect">
            <a:avLst/>
          </a:prstGeom>
        </p:spPr>
      </p:pic>
      <p:sp>
        <p:nvSpPr>
          <p:cNvPr id="984204927" name="Text 3"/>
          <p:cNvSpPr/>
          <p:nvPr/>
        </p:nvSpPr>
        <p:spPr bwMode="auto">
          <a:xfrm>
            <a:off x="640080" y="1965960"/>
            <a:ext cx="8412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999"/>
              </a:lnSpc>
              <a:spcAft>
                <a:spcPts val="1400"/>
              </a:spcAft>
              <a:buSzPct val="100000"/>
              <a:buChar char="–"/>
              <a:defRPr/>
            </a:pPr>
            <a:r>
              <a:rPr lang="en-US" sz="20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Herramientas como Copilot, Claude o ChatGPT ya generan código en segundos: cambian cómo se programa, no si hace falta programar.</a:t>
            </a:r>
            <a:endParaRPr lang="en-US" sz="2000"/>
          </a:p>
          <a:p>
            <a:pPr marL="342900" indent="-342900">
              <a:lnSpc>
                <a:spcPct val="114999"/>
              </a:lnSpc>
              <a:spcAft>
                <a:spcPts val="1400"/>
              </a:spcAft>
              <a:buSzPct val="100000"/>
              <a:buChar char="–"/>
              <a:defRPr/>
            </a:pPr>
            <a:r>
              <a:rPr lang="en-US" sz="20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Ganan peso otras habilidades: entender lo que genera la IA, revisarlo, depurarlo y saber si es correcto y seguro.</a:t>
            </a:r>
            <a:endParaRPr lang="en-US" sz="2000"/>
          </a:p>
          <a:p>
            <a:pPr marL="342900" indent="-342900">
              <a:lnSpc>
                <a:spcPct val="114999"/>
              </a:lnSpc>
              <a:spcAft>
                <a:spcPts val="1400"/>
              </a:spcAft>
              <a:buSzPct val="100000"/>
              <a:buChar char="–"/>
              <a:defRPr/>
            </a:pPr>
            <a:r>
              <a:rPr lang="en-US" sz="20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Los fundamentos (lógica, estructuras de datos, bases de datos, arquitectura) son más importantes que nunca para poder juzgar ese código.</a:t>
            </a:r>
            <a:endParaRPr lang="en-US" sz="2000"/>
          </a:p>
          <a:p>
            <a:pPr marL="342900" indent="-342900">
              <a:lnSpc>
                <a:spcPct val="114999"/>
              </a:lnSpc>
              <a:spcAft>
                <a:spcPts val="1400"/>
              </a:spcAft>
              <a:buSzPct val="100000"/>
              <a:buChar char="–"/>
              <a:defRPr/>
            </a:pPr>
            <a:r>
              <a:rPr lang="en-US" sz="20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El debate sobre cómo afecta esto a los perfiles junior está muy vivo — lo vamos a ver con dos vídeos al final de la sesión.</a:t>
            </a:r>
            <a:endParaRPr lang="en-US" sz="2000"/>
          </a:p>
        </p:txBody>
      </p:sp>
      <p:sp>
        <p:nvSpPr>
          <p:cNvPr id="880263785" name="Text 4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312133791" name="Text 5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882585" name="Text 0"/>
          <p:cNvSpPr/>
          <p:nvPr/>
        </p:nvSpPr>
        <p:spPr bwMode="auto"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CÓMO SE ORGANIZA</a:t>
            </a:r>
            <a:endParaRPr lang="en-US" sz="1300"/>
          </a:p>
        </p:txBody>
      </p:sp>
      <p:sp>
        <p:nvSpPr>
          <p:cNvPr id="1421756131" name="Text 1"/>
          <p:cNvSpPr/>
          <p:nvPr/>
        </p:nvSpPr>
        <p:spPr bwMode="auto"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Dos cursos, un mismo objetivo</a:t>
            </a:r>
            <a:endParaRPr lang="en-US" sz="3200"/>
          </a:p>
        </p:txBody>
      </p:sp>
      <p:sp>
        <p:nvSpPr>
          <p:cNvPr id="1679178353" name="Shape 2"/>
          <p:cNvSpPr/>
          <p:nvPr/>
        </p:nvSpPr>
        <p:spPr bwMode="auto">
          <a:xfrm>
            <a:off x="640080" y="20116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210533315" name="Text 3"/>
          <p:cNvSpPr/>
          <p:nvPr/>
        </p:nvSpPr>
        <p:spPr bwMode="auto">
          <a:xfrm>
            <a:off x="640080" y="224028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2</a:t>
            </a:r>
            <a:endParaRPr lang="en-US" sz="4400"/>
          </a:p>
        </p:txBody>
      </p:sp>
      <p:sp>
        <p:nvSpPr>
          <p:cNvPr id="664545799" name="Text 4"/>
          <p:cNvSpPr/>
          <p:nvPr/>
        </p:nvSpPr>
        <p:spPr bwMode="auto">
          <a:xfrm>
            <a:off x="914400" y="3246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spc="5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CURSOS ACADÉMICOS</a:t>
            </a:r>
            <a:endParaRPr lang="en-US" sz="1400"/>
          </a:p>
        </p:txBody>
      </p:sp>
      <p:sp>
        <p:nvSpPr>
          <p:cNvPr id="1926289794" name="Shape 5"/>
          <p:cNvSpPr/>
          <p:nvPr/>
        </p:nvSpPr>
        <p:spPr bwMode="auto">
          <a:xfrm>
            <a:off x="4434840" y="20116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0B2545"/>
          </a:solidFill>
          <a:ln/>
        </p:spPr>
      </p:sp>
      <p:sp>
        <p:nvSpPr>
          <p:cNvPr id="883282774" name="Text 6"/>
          <p:cNvSpPr/>
          <p:nvPr/>
        </p:nvSpPr>
        <p:spPr bwMode="auto">
          <a:xfrm>
            <a:off x="4434840" y="224028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FF7A33"/>
                </a:solidFill>
                <a:latin typeface="Cambria"/>
                <a:ea typeface="Cambria"/>
                <a:cs typeface="Cambria"/>
              </a:rPr>
              <a:t>2.000</a:t>
            </a:r>
            <a:endParaRPr lang="en-US" sz="4400"/>
          </a:p>
        </p:txBody>
      </p:sp>
      <p:sp>
        <p:nvSpPr>
          <p:cNvPr id="789027660" name="Text 7"/>
          <p:cNvSpPr/>
          <p:nvPr/>
        </p:nvSpPr>
        <p:spPr bwMode="auto">
          <a:xfrm>
            <a:off x="4709160" y="3246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spc="50">
                <a:solidFill>
                  <a:srgbClr val="C9D6E3"/>
                </a:solidFill>
                <a:latin typeface="Calibri"/>
                <a:ea typeface="Calibri"/>
                <a:cs typeface="Calibri"/>
              </a:rPr>
              <a:t>HORAS TOTALES DEL CICLO</a:t>
            </a:r>
            <a:endParaRPr lang="en-US" sz="1400"/>
          </a:p>
        </p:txBody>
      </p:sp>
      <p:sp>
        <p:nvSpPr>
          <p:cNvPr id="156260482" name="Shape 8"/>
          <p:cNvSpPr/>
          <p:nvPr/>
        </p:nvSpPr>
        <p:spPr bwMode="auto">
          <a:xfrm>
            <a:off x="8229600" y="20116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677025650" name="Text 9"/>
          <p:cNvSpPr/>
          <p:nvPr/>
        </p:nvSpPr>
        <p:spPr bwMode="auto">
          <a:xfrm>
            <a:off x="8229600" y="224028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500h</a:t>
            </a:r>
            <a:endParaRPr lang="en-US" sz="4400"/>
          </a:p>
        </p:txBody>
      </p:sp>
      <p:sp>
        <p:nvSpPr>
          <p:cNvPr id="1977806393" name="Text 10"/>
          <p:cNvSpPr/>
          <p:nvPr/>
        </p:nvSpPr>
        <p:spPr bwMode="auto">
          <a:xfrm>
            <a:off x="8503920" y="3246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spc="5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MÍNIMO EN FORMACIÓN DUAL (EMPRESA)</a:t>
            </a:r>
            <a:endParaRPr lang="en-US" sz="1400"/>
          </a:p>
        </p:txBody>
      </p:sp>
      <p:sp>
        <p:nvSpPr>
          <p:cNvPr id="1872225311" name="Text 11"/>
          <p:cNvSpPr/>
          <p:nvPr/>
        </p:nvSpPr>
        <p:spPr bwMode="auto">
          <a:xfrm>
            <a:off x="640080" y="434340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450" i="1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El primer curso sienta las bases (programación, bases de datos, sistemas). El segundo se centra en el desarrollo web completo (cliente, servidor, despliegue) e incorpora la fase de formación en empresas.</a:t>
            </a:r>
            <a:endParaRPr lang="en-US" sz="1450"/>
          </a:p>
        </p:txBody>
      </p:sp>
      <p:sp>
        <p:nvSpPr>
          <p:cNvPr id="1454665913" name="Text 12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1310499899" name="Text 13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93889" name="Text 0"/>
          <p:cNvSpPr/>
          <p:nvPr/>
        </p:nvSpPr>
        <p:spPr bwMode="auto"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PLAN DE ESTUDIOS</a:t>
            </a:r>
            <a:endParaRPr lang="en-US" sz="1300"/>
          </a:p>
        </p:txBody>
      </p:sp>
      <p:sp>
        <p:nvSpPr>
          <p:cNvPr id="677053284" name="Text 1"/>
          <p:cNvSpPr/>
          <p:nvPr/>
        </p:nvSpPr>
        <p:spPr bwMode="auto"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Módulos de 1º curso</a:t>
            </a:r>
            <a:endParaRPr lang="en-US" sz="3200"/>
          </a:p>
        </p:txBody>
      </p:sp>
      <p:graphicFrame>
        <p:nvGraphicFramePr>
          <p:cNvPr id="1009582583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40080" y="1828800"/>
          <a:ext cx="786384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6035039"/>
                <a:gridCol w="1828800"/>
              </a:tblGrid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MÓDULO PROFESIONAL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 / SEMANA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0B2545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Programación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Bases de Datos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Sistemas Informáticos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Lenguajes de Marcas y Sist. de Gestión de la Información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Entornos de Desarrollo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Itinerario Personal para la Empleabilidad I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Digitalización Aplicada a los Sistemas Productivos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Sostenibilidad Aplicada a los Sistemas Productivos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TOTAL 1º CURSO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12A8A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12A8A0"/>
                    </a:solidFill>
                  </a:tcPr>
                </a:tc>
              </a:tr>
            </a:tbl>
          </a:graphicData>
        </a:graphic>
      </p:graphicFrame>
      <p:sp>
        <p:nvSpPr>
          <p:cNvPr id="1276762622" name="Text 2"/>
          <p:cNvSpPr/>
          <p:nvPr/>
        </p:nvSpPr>
        <p:spPr bwMode="auto">
          <a:xfrm>
            <a:off x="8778240" y="18745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Formación Dual</a:t>
            </a:r>
            <a:endParaRPr lang="en-US" sz="1200"/>
          </a:p>
        </p:txBody>
      </p:sp>
      <p:sp>
        <p:nvSpPr>
          <p:cNvPr id="1277428427" name="Shape 3"/>
          <p:cNvSpPr/>
          <p:nvPr/>
        </p:nvSpPr>
        <p:spPr bwMode="auto">
          <a:xfrm>
            <a:off x="8778240" y="224028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0B2545"/>
          </a:solidFill>
          <a:ln/>
        </p:spPr>
      </p:sp>
      <p:sp>
        <p:nvSpPr>
          <p:cNvPr id="410796135" name="Shape 4"/>
          <p:cNvSpPr/>
          <p:nvPr/>
        </p:nvSpPr>
        <p:spPr bwMode="auto">
          <a:xfrm>
            <a:off x="9052560" y="2468880"/>
            <a:ext cx="548640" cy="548640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1844288640" name="Image 0" descr="/home/claude/daw-ppt/icons/handshake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76004" y="2592324"/>
            <a:ext cx="301752" cy="301752"/>
          </a:xfrm>
          <a:prstGeom prst="rect">
            <a:avLst/>
          </a:prstGeom>
        </p:spPr>
      </p:pic>
      <p:sp>
        <p:nvSpPr>
          <p:cNvPr id="380866343" name="Text 5"/>
          <p:cNvSpPr/>
          <p:nvPr/>
        </p:nvSpPr>
        <p:spPr bwMode="auto">
          <a:xfrm>
            <a:off x="9052560" y="315468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rgbClr val="C9D6E3"/>
                </a:solidFill>
                <a:latin typeface="Calibri"/>
                <a:ea typeface="Calibri"/>
                <a:cs typeface="Calibri"/>
              </a:rPr>
              <a:t>Parte de los contenidos de este curso se conectan ya con la nueva Fase de Formación en Empresas que veremos más adelante.</a:t>
            </a:r>
            <a:endParaRPr lang="en-US" sz="1400"/>
          </a:p>
        </p:txBody>
      </p:sp>
      <p:sp>
        <p:nvSpPr>
          <p:cNvPr id="144591905" name="Text 6"/>
          <p:cNvSpPr/>
          <p:nvPr/>
        </p:nvSpPr>
        <p:spPr bwMode="auto">
          <a:xfrm>
            <a:off x="64008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Horas semanales orientativas según el currículo LOE-FP vigente (RD 659/2023) del título — a confirmar con la programación del centro.</a:t>
            </a:r>
            <a:endParaRPr lang="en-US" sz="1050"/>
          </a:p>
        </p:txBody>
      </p:sp>
      <p:sp>
        <p:nvSpPr>
          <p:cNvPr id="1460573777" name="Text 7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1358671109" name="Text 8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7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463412" name="Text 0"/>
          <p:cNvSpPr/>
          <p:nvPr/>
        </p:nvSpPr>
        <p:spPr bwMode="auto"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PLAN DE ESTUDIOS</a:t>
            </a:r>
            <a:endParaRPr lang="en-US" sz="1300"/>
          </a:p>
        </p:txBody>
      </p:sp>
      <p:sp>
        <p:nvSpPr>
          <p:cNvPr id="1402800625" name="Text 1"/>
          <p:cNvSpPr/>
          <p:nvPr/>
        </p:nvSpPr>
        <p:spPr bwMode="auto"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Módulos de 2º curso</a:t>
            </a:r>
            <a:endParaRPr lang="en-US" sz="3200"/>
          </a:p>
        </p:txBody>
      </p:sp>
      <p:graphicFrame>
        <p:nvGraphicFramePr>
          <p:cNvPr id="712776369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40080" y="1828800"/>
          <a:ext cx="786384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6035039"/>
                <a:gridCol w="1828800"/>
              </a:tblGrid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MÓDULO PROFESIONAL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 / SEMANA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0B2545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Desarrollo Web en Entorno Servidor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Desarrollo Web en Entorno Cliente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Diseño de Interfaces Web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Optativa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Itinerario Personal para la Empleabilidad II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Inglés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Proyecto Intermodular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22436"/>
                          </a:solidFill>
                          <a:latin typeface="Calibri"/>
                          <a:ea typeface="Calibri"/>
                          <a:cs typeface="Calibri"/>
                        </a:rPr>
                        <a:t>Despliegue de Aplicaciones Web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0B254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EEF3F6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TOTAL 2º CURSO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12A8A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3E9EE"/>
                      </a:solidFill>
                    </a:lnL>
                    <a:lnR w="12700" algn="ctr">
                      <a:solidFill>
                        <a:srgbClr val="E3E9EE"/>
                      </a:solidFill>
                    </a:lnR>
                    <a:lnT w="12700" algn="ctr">
                      <a:solidFill>
                        <a:srgbClr val="E3E9EE"/>
                      </a:solidFill>
                    </a:lnT>
                    <a:lnB w="12700" algn="ctr">
                      <a:solidFill>
                        <a:srgbClr val="E3E9EE"/>
                      </a:solidFill>
                    </a:lnB>
                    <a:solidFill>
                      <a:srgbClr val="12A8A0"/>
                    </a:solidFill>
                  </a:tcPr>
                </a:tc>
              </a:tr>
            </a:tbl>
          </a:graphicData>
        </a:graphic>
      </p:graphicFrame>
      <p:sp>
        <p:nvSpPr>
          <p:cNvPr id="91118232" name="Text 2"/>
          <p:cNvSpPr/>
          <p:nvPr/>
        </p:nvSpPr>
        <p:spPr bwMode="auto">
          <a:xfrm>
            <a:off x="8778240" y="18745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Además...</a:t>
            </a:r>
            <a:endParaRPr lang="en-US" sz="1200"/>
          </a:p>
        </p:txBody>
      </p:sp>
      <p:sp>
        <p:nvSpPr>
          <p:cNvPr id="312128998" name="Shape 3"/>
          <p:cNvSpPr/>
          <p:nvPr/>
        </p:nvSpPr>
        <p:spPr bwMode="auto">
          <a:xfrm>
            <a:off x="8778240" y="224028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0B2545"/>
          </a:solidFill>
          <a:ln/>
        </p:spPr>
      </p:sp>
      <p:sp>
        <p:nvSpPr>
          <p:cNvPr id="1788636351" name="Shape 4"/>
          <p:cNvSpPr/>
          <p:nvPr/>
        </p:nvSpPr>
        <p:spPr bwMode="auto">
          <a:xfrm>
            <a:off x="9052560" y="2468880"/>
            <a:ext cx="548640" cy="548640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1582362651" name="Image 0" descr="/home/claude/daw-ppt/icons/briefcase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76004" y="2592324"/>
            <a:ext cx="301752" cy="301752"/>
          </a:xfrm>
          <a:prstGeom prst="rect">
            <a:avLst/>
          </a:prstGeom>
        </p:spPr>
      </p:pic>
      <p:sp>
        <p:nvSpPr>
          <p:cNvPr id="205013184" name="Text 5"/>
          <p:cNvSpPr/>
          <p:nvPr/>
        </p:nvSpPr>
        <p:spPr bwMode="auto">
          <a:xfrm>
            <a:off x="9052560" y="315468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rgbClr val="C9D6E3"/>
                </a:solidFill>
                <a:latin typeface="Calibri"/>
                <a:ea typeface="Calibri"/>
                <a:cs typeface="Calibri"/>
              </a:rPr>
              <a:t>En 2º curso </a:t>
            </a:r>
            <a:r>
              <a:rPr lang="es-ES" sz="1400">
                <a:solidFill>
                  <a:srgbClr val="C9D6E3"/>
                </a:solidFill>
                <a:latin typeface="Calibri"/>
                <a:ea typeface="Calibri"/>
                <a:cs typeface="Calibri"/>
              </a:rPr>
              <a:t>hay más horas de formación en la empresa. También se puede hacer esa formación en un país de la UE (Erasmus+).</a:t>
            </a:r>
            <a:endParaRPr lang="en-US" sz="1400"/>
          </a:p>
        </p:txBody>
      </p:sp>
      <p:sp>
        <p:nvSpPr>
          <p:cNvPr id="1828746408" name="Text 6"/>
          <p:cNvSpPr/>
          <p:nvPr/>
        </p:nvSpPr>
        <p:spPr bwMode="auto">
          <a:xfrm>
            <a:off x="64008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Horas semanales orientativas según el currículo LOE-FP vigente (RD 659/2023) del título — a confirmar con la programación del centro.</a:t>
            </a:r>
            <a:endParaRPr lang="en-US" sz="1050"/>
          </a:p>
        </p:txBody>
      </p:sp>
      <p:sp>
        <p:nvSpPr>
          <p:cNvPr id="1968389639" name="Text 7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119656961" name="Text 8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8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B254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48072" name="Shape 0"/>
          <p:cNvSpPr/>
          <p:nvPr/>
        </p:nvSpPr>
        <p:spPr bwMode="auto">
          <a:xfrm>
            <a:off x="640080" y="640080"/>
            <a:ext cx="777240" cy="777240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703202152" name="Image 0" descr="/home/claude/daw-ppt/icons/handshake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4959" y="814959"/>
            <a:ext cx="427482" cy="427482"/>
          </a:xfrm>
          <a:prstGeom prst="rect">
            <a:avLst/>
          </a:prstGeom>
        </p:spPr>
      </p:pic>
      <p:sp>
        <p:nvSpPr>
          <p:cNvPr id="580340876" name="Text 1"/>
          <p:cNvSpPr/>
          <p:nvPr/>
        </p:nvSpPr>
        <p:spPr bwMode="auto">
          <a:xfrm>
            <a:off x="1600200" y="713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NOVEDAD DE ESTE CURRÍCULO</a:t>
            </a:r>
            <a:endParaRPr lang="en-US" sz="1300"/>
          </a:p>
        </p:txBody>
      </p:sp>
      <p:sp>
        <p:nvSpPr>
          <p:cNvPr id="1049874071" name="Text 2"/>
          <p:cNvSpPr/>
          <p:nvPr/>
        </p:nvSpPr>
        <p:spPr bwMode="auto">
          <a:xfrm>
            <a:off x="640080" y="15544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La nueva Formación Dual</a:t>
            </a:r>
            <a:endParaRPr lang="en-US" sz="3200"/>
          </a:p>
        </p:txBody>
      </p:sp>
      <p:sp>
        <p:nvSpPr>
          <p:cNvPr id="1186352586" name="Text 3"/>
          <p:cNvSpPr/>
          <p:nvPr/>
        </p:nvSpPr>
        <p:spPr bwMode="auto">
          <a:xfrm>
            <a:off x="640080" y="251460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  <a:defRPr/>
            </a:pPr>
            <a:r>
              <a:rPr lang="en-US" sz="1800">
                <a:solidFill>
                  <a:srgbClr val="DCE6EF"/>
                </a:solidFill>
                <a:latin typeface="Calibri"/>
                <a:ea typeface="Calibri"/>
                <a:cs typeface="Calibri"/>
              </a:rPr>
              <a:t>El nuevo título incorpora una Fase de Formación en Empresas u Organismos Equiparados (FFEOE), con una duración mínima de 500 horas.</a:t>
            </a:r>
            <a:endParaRPr lang="en-US" sz="180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  <a:defRPr/>
            </a:pPr>
            <a:r>
              <a:rPr lang="en-US" sz="1800">
                <a:solidFill>
                  <a:srgbClr val="DCE6EF"/>
                </a:solidFill>
                <a:latin typeface="Calibri"/>
                <a:ea typeface="Calibri"/>
                <a:cs typeface="Calibri"/>
              </a:rPr>
              <a:t>Esto significa que una parte de los Resultados de Aprendizaje (RA) y sus Criterios de Evaluación (CE) de varios módulos no se trabajan solo en el aula: se aprenden y se evalúan directamente en la empresa.</a:t>
            </a:r>
            <a:endParaRPr lang="en-US" sz="1800">
              <a:solidFill>
                <a:srgbClr val="DCE6EF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800">
                <a:solidFill>
                  <a:srgbClr val="DCE6EF"/>
                </a:solidFill>
                <a:latin typeface="Calibri"/>
                <a:ea typeface="Calibri"/>
                <a:cs typeface="Calibri"/>
              </a:rPr>
              <a:t>Es una oportunidad para tocar herramientas y entornos reales de trabajo antes incluso de terminar el ciclo.</a:t>
            </a:r>
            <a:endParaRPr lang="en-US" sz="1600"/>
          </a:p>
        </p:txBody>
      </p:sp>
      <p:sp>
        <p:nvSpPr>
          <p:cNvPr id="944965445" name="Shape 4"/>
          <p:cNvSpPr/>
          <p:nvPr/>
        </p:nvSpPr>
        <p:spPr bwMode="auto">
          <a:xfrm>
            <a:off x="7406640" y="1728233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133B6B"/>
          </a:solidFill>
          <a:ln/>
        </p:spPr>
      </p:sp>
      <p:sp>
        <p:nvSpPr>
          <p:cNvPr id="878623169" name="Text 5"/>
          <p:cNvSpPr/>
          <p:nvPr/>
        </p:nvSpPr>
        <p:spPr bwMode="auto">
          <a:xfrm>
            <a:off x="7406640" y="20116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800" b="1">
                <a:solidFill>
                  <a:srgbClr val="FF7A33"/>
                </a:solidFill>
                <a:latin typeface="Cambria"/>
                <a:ea typeface="Cambria"/>
                <a:cs typeface="Cambria"/>
              </a:rPr>
              <a:t>500</a:t>
            </a:r>
            <a:endParaRPr lang="en-US" sz="4800"/>
          </a:p>
        </p:txBody>
      </p:sp>
      <p:sp>
        <p:nvSpPr>
          <p:cNvPr id="1889943065" name="Text 6"/>
          <p:cNvSpPr/>
          <p:nvPr/>
        </p:nvSpPr>
        <p:spPr bwMode="auto">
          <a:xfrm>
            <a:off x="7391094" y="29044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HORAS MÍNIMAS EN EMPRESA</a:t>
            </a:r>
            <a:endParaRPr lang="en-US" sz="1600"/>
          </a:p>
        </p:txBody>
      </p:sp>
      <p:sp>
        <p:nvSpPr>
          <p:cNvPr id="861479044" name="Text 7"/>
          <p:cNvSpPr/>
          <p:nvPr/>
        </p:nvSpPr>
        <p:spPr bwMode="auto">
          <a:xfrm>
            <a:off x="7726680" y="35204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s-ES" sz="1600" b="0" i="0" u="none" strike="noStrike" cap="none" spc="0">
                <a:solidFill>
                  <a:srgbClr val="DCE6EF"/>
                </a:solidFill>
                <a:latin typeface="Calibri"/>
                <a:ea typeface="Calibri"/>
                <a:cs typeface="Calibri"/>
              </a:rPr>
              <a:t>Aproximadamente 160 horas el primer curso y 320 horas el segundo curso.</a:t>
            </a:r>
            <a:endParaRPr lang="en-US" sz="1600"/>
          </a:p>
        </p:txBody>
      </p:sp>
      <p:sp>
        <p:nvSpPr>
          <p:cNvPr id="1293234006" name="Text 8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135331462" name="Text 9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242464" name="Text 0"/>
          <p:cNvSpPr/>
          <p:nvPr/>
        </p:nvSpPr>
        <p:spPr bwMode="auto"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FORMACIÓN DUAL Y PRÁCTICAS</a:t>
            </a:r>
            <a:endParaRPr lang="en-US" sz="1300"/>
          </a:p>
        </p:txBody>
      </p:sp>
      <p:sp>
        <p:nvSpPr>
          <p:cNvPr id="772398876" name="Text 1"/>
          <p:cNvSpPr/>
          <p:nvPr/>
        </p:nvSpPr>
        <p:spPr bwMode="auto"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Empresas con las que colaboramos</a:t>
            </a:r>
            <a:endParaRPr lang="en-US" sz="3200"/>
          </a:p>
        </p:txBody>
      </p:sp>
      <p:sp>
        <p:nvSpPr>
          <p:cNvPr id="1216814977" name="Shape 2"/>
          <p:cNvSpPr/>
          <p:nvPr/>
        </p:nvSpPr>
        <p:spPr bwMode="auto">
          <a:xfrm>
            <a:off x="640080" y="1874520"/>
            <a:ext cx="51663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48679037" name="Shape 3"/>
          <p:cNvSpPr/>
          <p:nvPr/>
        </p:nvSpPr>
        <p:spPr bwMode="auto">
          <a:xfrm>
            <a:off x="960120" y="2148840"/>
            <a:ext cx="594360" cy="594360"/>
          </a:xfrm>
          <a:prstGeom prst="ellipse">
            <a:avLst/>
          </a:prstGeom>
          <a:solidFill>
            <a:srgbClr val="12A8A0"/>
          </a:solidFill>
          <a:ln/>
        </p:spPr>
      </p:sp>
      <p:pic>
        <p:nvPicPr>
          <p:cNvPr id="1177120237" name="Image 0" descr="/home/claude/daw-ppt/icons/seedling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93851" y="2282571"/>
            <a:ext cx="326898" cy="326898"/>
          </a:xfrm>
          <a:prstGeom prst="rect">
            <a:avLst/>
          </a:prstGeom>
        </p:spPr>
      </p:pic>
      <p:sp>
        <p:nvSpPr>
          <p:cNvPr id="1573255873" name="Text 4"/>
          <p:cNvSpPr/>
          <p:nvPr/>
        </p:nvSpPr>
        <p:spPr bwMode="auto">
          <a:xfrm>
            <a:off x="1691640" y="22128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Sector agrotecnológico</a:t>
            </a:r>
            <a:endParaRPr lang="en-US" sz="1800"/>
          </a:p>
        </p:txBody>
      </p:sp>
      <p:sp>
        <p:nvSpPr>
          <p:cNvPr id="2096680455" name="Text 5"/>
          <p:cNvSpPr/>
          <p:nvPr/>
        </p:nvSpPr>
        <p:spPr bwMode="auto">
          <a:xfrm>
            <a:off x="960120" y="2880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4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Nuestra comarca es un referente en tecnología aplicada a la agricultura, y varias empresas del sector nos abren sus puertas:</a:t>
            </a:r>
            <a:endParaRPr lang="en-US" sz="1400"/>
          </a:p>
        </p:txBody>
      </p:sp>
      <p:sp>
        <p:nvSpPr>
          <p:cNvPr id="1721866568" name="Shape 6"/>
          <p:cNvSpPr/>
          <p:nvPr/>
        </p:nvSpPr>
        <p:spPr bwMode="auto">
          <a:xfrm>
            <a:off x="960120" y="379476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EEF7F6"/>
          </a:solidFill>
          <a:ln/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887103573" name="Text 7"/>
          <p:cNvSpPr/>
          <p:nvPr/>
        </p:nvSpPr>
        <p:spPr bwMode="auto">
          <a:xfrm>
            <a:off x="960120" y="37947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PrimaFlor</a:t>
            </a:r>
            <a:endParaRPr lang="en-US" sz="1300"/>
          </a:p>
        </p:txBody>
      </p:sp>
      <p:sp>
        <p:nvSpPr>
          <p:cNvPr id="552230976" name="Shape 8"/>
          <p:cNvSpPr/>
          <p:nvPr/>
        </p:nvSpPr>
        <p:spPr bwMode="auto">
          <a:xfrm>
            <a:off x="3291840" y="379476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EEF7F6"/>
          </a:solidFill>
          <a:ln/>
        </p:spPr>
      </p:sp>
      <p:sp>
        <p:nvSpPr>
          <p:cNvPr id="683695302" name="Text 9"/>
          <p:cNvSpPr/>
          <p:nvPr/>
        </p:nvSpPr>
        <p:spPr bwMode="auto">
          <a:xfrm>
            <a:off x="3291840" y="37947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PrimaRam</a:t>
            </a:r>
            <a:endParaRPr lang="en-US" sz="1800"/>
          </a:p>
        </p:txBody>
      </p:sp>
      <p:sp>
        <p:nvSpPr>
          <p:cNvPr id="236484584" name="Shape 10"/>
          <p:cNvSpPr/>
          <p:nvPr/>
        </p:nvSpPr>
        <p:spPr bwMode="auto">
          <a:xfrm>
            <a:off x="960120" y="457200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EEF7F6"/>
          </a:solidFill>
          <a:ln/>
        </p:spPr>
      </p:sp>
      <p:sp>
        <p:nvSpPr>
          <p:cNvPr id="443233902" name="Text 11"/>
          <p:cNvSpPr/>
          <p:nvPr/>
        </p:nvSpPr>
        <p:spPr bwMode="auto">
          <a:xfrm>
            <a:off x="960120" y="4572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Hispatec</a:t>
            </a:r>
            <a:endParaRPr lang="en-US" sz="1800"/>
          </a:p>
        </p:txBody>
      </p:sp>
      <p:sp>
        <p:nvSpPr>
          <p:cNvPr id="1868258226" name="Shape 12"/>
          <p:cNvSpPr/>
          <p:nvPr/>
        </p:nvSpPr>
        <p:spPr bwMode="auto">
          <a:xfrm>
            <a:off x="3291840" y="457200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EEF7F6"/>
          </a:solidFill>
          <a:ln/>
        </p:spPr>
      </p:sp>
      <p:sp>
        <p:nvSpPr>
          <p:cNvPr id="783960727" name="Text 13"/>
          <p:cNvSpPr/>
          <p:nvPr/>
        </p:nvSpPr>
        <p:spPr bwMode="auto">
          <a:xfrm>
            <a:off x="3291840" y="4572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Ikos</a:t>
            </a:r>
            <a:endParaRPr lang="en-US" sz="1800"/>
          </a:p>
        </p:txBody>
      </p:sp>
      <p:sp>
        <p:nvSpPr>
          <p:cNvPr id="1179941640" name="Shape 14"/>
          <p:cNvSpPr/>
          <p:nvPr/>
        </p:nvSpPr>
        <p:spPr bwMode="auto">
          <a:xfrm>
            <a:off x="6080760" y="187452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115874840" name="Shape 15"/>
          <p:cNvSpPr/>
          <p:nvPr/>
        </p:nvSpPr>
        <p:spPr bwMode="auto">
          <a:xfrm>
            <a:off x="6400800" y="2148840"/>
            <a:ext cx="594360" cy="594360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217828456" name="Image 1" descr="/home/claude/daw-ppt/icons/building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534531" y="2282571"/>
            <a:ext cx="326898" cy="326898"/>
          </a:xfrm>
          <a:prstGeom prst="rect">
            <a:avLst/>
          </a:prstGeom>
        </p:spPr>
      </p:pic>
      <p:sp>
        <p:nvSpPr>
          <p:cNvPr id="1389884172" name="Text 16"/>
          <p:cNvSpPr/>
          <p:nvPr/>
        </p:nvSpPr>
        <p:spPr bwMode="auto">
          <a:xfrm>
            <a:off x="7132320" y="22128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Y muchas más</a:t>
            </a:r>
            <a:endParaRPr lang="en-US" sz="1800"/>
          </a:p>
        </p:txBody>
      </p:sp>
      <p:sp>
        <p:nvSpPr>
          <p:cNvPr id="222823109" name="Text 17"/>
          <p:cNvSpPr/>
          <p:nvPr/>
        </p:nvSpPr>
        <p:spPr bwMode="auto">
          <a:xfrm>
            <a:off x="6400800" y="28803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4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También trabajamos con empresas de otros sectores, incluidas grandes industriales de referencia como:</a:t>
            </a:r>
            <a:endParaRPr lang="en-US" sz="1400"/>
          </a:p>
        </p:txBody>
      </p:sp>
      <p:sp>
        <p:nvSpPr>
          <p:cNvPr id="1641709905" name="Shape 18"/>
          <p:cNvSpPr/>
          <p:nvPr/>
        </p:nvSpPr>
        <p:spPr bwMode="auto">
          <a:xfrm>
            <a:off x="6400800" y="3703320"/>
            <a:ext cx="4800600" cy="685800"/>
          </a:xfrm>
          <a:prstGeom prst="roundRect">
            <a:avLst>
              <a:gd name="adj" fmla="val 8000"/>
            </a:avLst>
          </a:prstGeom>
          <a:solidFill>
            <a:srgbClr val="FFF1E8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96889879" name="Text 19"/>
          <p:cNvSpPr/>
          <p:nvPr/>
        </p:nvSpPr>
        <p:spPr bwMode="auto">
          <a:xfrm>
            <a:off x="6400800" y="370332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Cosentino</a:t>
            </a:r>
            <a:endParaRPr lang="en-US" sz="1800"/>
          </a:p>
        </p:txBody>
      </p:sp>
      <p:sp>
        <p:nvSpPr>
          <p:cNvPr id="841499700" name="Text 20"/>
          <p:cNvSpPr/>
          <p:nvPr/>
        </p:nvSpPr>
        <p:spPr bwMode="auto">
          <a:xfrm>
            <a:off x="6400800" y="45720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 i="1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El listado de empresas colaboradoras se amplía cada curso: dependerá también de vuestro perfil e intereses a la hora de asignar el destino de prácticas.</a:t>
            </a:r>
            <a:endParaRPr lang="en-US" sz="1200"/>
          </a:p>
        </p:txBody>
      </p:sp>
      <p:sp>
        <p:nvSpPr>
          <p:cNvPr id="1496314425" name="Text 21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861860819" name="Text 22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799181" name="Text 0"/>
          <p:cNvSpPr/>
          <p:nvPr/>
        </p:nvSpPr>
        <p:spPr bwMode="auto"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INTERNACIONALIZACIÓN</a:t>
            </a:r>
            <a:endParaRPr lang="en-US" sz="1300"/>
          </a:p>
        </p:txBody>
      </p:sp>
      <p:sp>
        <p:nvSpPr>
          <p:cNvPr id="1215204797" name="Text 1"/>
          <p:cNvSpPr/>
          <p:nvPr/>
        </p:nvSpPr>
        <p:spPr bwMode="auto"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Erasmus+ KA131</a:t>
            </a:r>
            <a:endParaRPr lang="en-US" sz="3200"/>
          </a:p>
        </p:txBody>
      </p:sp>
      <p:sp>
        <p:nvSpPr>
          <p:cNvPr id="509904697" name="Shape 2"/>
          <p:cNvSpPr/>
          <p:nvPr/>
        </p:nvSpPr>
        <p:spPr bwMode="auto">
          <a:xfrm>
            <a:off x="9052560" y="1920240"/>
            <a:ext cx="1828800" cy="1828800"/>
          </a:xfrm>
          <a:prstGeom prst="ellipse">
            <a:avLst/>
          </a:prstGeom>
          <a:solidFill>
            <a:srgbClr val="12A8A0"/>
          </a:solidFill>
          <a:ln/>
        </p:spPr>
      </p:sp>
      <p:pic>
        <p:nvPicPr>
          <p:cNvPr id="1068899404" name="Image 0" descr="/home/claude/daw-ppt/icons/globe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464040" y="2331720"/>
            <a:ext cx="1005840" cy="1005840"/>
          </a:xfrm>
          <a:prstGeom prst="rect">
            <a:avLst/>
          </a:prstGeom>
        </p:spPr>
      </p:pic>
      <p:sp>
        <p:nvSpPr>
          <p:cNvPr id="723305394" name="Text 3"/>
          <p:cNvSpPr/>
          <p:nvPr/>
        </p:nvSpPr>
        <p:spPr bwMode="auto">
          <a:xfrm>
            <a:off x="640080" y="196596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  <a:defRPr/>
            </a:pPr>
            <a:r>
              <a:rPr lang="en-US" sz="18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El IES Jaroso participa en el proyecto Erasmus+ KA131, que financia movilidades del alumnado a otros países europeos.</a:t>
            </a:r>
            <a:endParaRPr lang="en-US" sz="180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  <a:defRPr/>
            </a:pPr>
            <a:r>
              <a:rPr lang="en-US" sz="18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Para los próximos dos cursos contamos con 4 movilidades de alumnado de DAW: una oportunidad para hacer parte de la Formación Dual o las prácticas en una empresa europea.</a:t>
            </a:r>
            <a:endParaRPr lang="en-US" sz="180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8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Además de la experiencia profesional, es una forma inmejorable de mejorar el idioma y ganar autonomía e independencia.</a:t>
            </a:r>
            <a:endParaRPr lang="en-US" sz="1800"/>
          </a:p>
        </p:txBody>
      </p:sp>
      <p:sp>
        <p:nvSpPr>
          <p:cNvPr id="986456727" name="Shape 4"/>
          <p:cNvSpPr/>
          <p:nvPr/>
        </p:nvSpPr>
        <p:spPr bwMode="auto">
          <a:xfrm>
            <a:off x="8549640" y="402336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153952000" name="Text 5"/>
          <p:cNvSpPr/>
          <p:nvPr/>
        </p:nvSpPr>
        <p:spPr bwMode="auto">
          <a:xfrm>
            <a:off x="8549640" y="40690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FF7A33"/>
                </a:solidFill>
                <a:latin typeface="Cambria"/>
                <a:ea typeface="Cambria"/>
                <a:cs typeface="Cambria"/>
              </a:rPr>
              <a:t>4</a:t>
            </a:r>
            <a:endParaRPr lang="en-US" sz="3400"/>
          </a:p>
        </p:txBody>
      </p:sp>
      <p:sp>
        <p:nvSpPr>
          <p:cNvPr id="1002533863" name="Text 6"/>
          <p:cNvSpPr/>
          <p:nvPr/>
        </p:nvSpPr>
        <p:spPr bwMode="auto">
          <a:xfrm>
            <a:off x="8732520" y="4709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 spc="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MOVILIDADES · PRÓXIMOS 2 CURSOS</a:t>
            </a:r>
            <a:endParaRPr lang="en-US" sz="1200"/>
          </a:p>
        </p:txBody>
      </p:sp>
      <p:sp>
        <p:nvSpPr>
          <p:cNvPr id="117149324" name="Text 7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1217752368" name="Text 8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900"/>
          </a:p>
        </p:txBody>
      </p:sp>
      <p:pic>
        <p:nvPicPr>
          <p:cNvPr id="201595175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327005" y="4792789"/>
            <a:ext cx="3860575" cy="11050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061619" name="Text 0"/>
          <p:cNvSpPr/>
          <p:nvPr/>
        </p:nvSpPr>
        <p:spPr bwMode="auto"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COLABORACIÓN TECNOLÓGICA</a:t>
            </a:r>
            <a:endParaRPr lang="en-US" sz="1300"/>
          </a:p>
        </p:txBody>
      </p:sp>
      <p:sp>
        <p:nvSpPr>
          <p:cNvPr id="54410265" name="Text 1"/>
          <p:cNvSpPr/>
          <p:nvPr/>
        </p:nvSpPr>
        <p:spPr bwMode="auto"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Formamos parte de AWS Academy</a:t>
            </a:r>
            <a:endParaRPr lang="en-US" sz="3200"/>
          </a:p>
        </p:txBody>
      </p:sp>
      <p:sp>
        <p:nvSpPr>
          <p:cNvPr id="1173156634" name="Shape 2"/>
          <p:cNvSpPr/>
          <p:nvPr/>
        </p:nvSpPr>
        <p:spPr bwMode="auto">
          <a:xfrm>
            <a:off x="640080" y="1874520"/>
            <a:ext cx="914400" cy="9144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035159880" name="Image 0" descr="/home/claude/daw-ppt/icons/cloud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45820" y="2080259"/>
            <a:ext cx="502920" cy="502920"/>
          </a:xfrm>
          <a:prstGeom prst="rect">
            <a:avLst/>
          </a:prstGeom>
        </p:spPr>
      </p:pic>
      <p:sp>
        <p:nvSpPr>
          <p:cNvPr id="275930022" name="Text 3"/>
          <p:cNvSpPr/>
          <p:nvPr/>
        </p:nvSpPr>
        <p:spPr bwMode="auto">
          <a:xfrm>
            <a:off x="1783080" y="1874520"/>
            <a:ext cx="5760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  <a:defRPr/>
            </a:pPr>
            <a:r>
              <a:rPr lang="en-US" sz="15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El centro colabora con Amazon Web Services (AWS) y forma parte del programa AWS Academy.</a:t>
            </a:r>
            <a:endParaRPr lang="en-US" sz="150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  <a:defRPr/>
            </a:pPr>
            <a:r>
              <a:rPr lang="en-US" sz="15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Utilizamos su plataforma de formación en varios módulos del ciclo, con contenidos oficiales sobre computación en la nube, bases de datos y despliegue de aplicaciones.</a:t>
            </a:r>
            <a:endParaRPr lang="en-US" sz="150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Es tecnología que se usa de verdad en el sector: aprenderéis con las mismas herramientas que muchas empresas, incluidas las de nuestra zona.</a:t>
            </a:r>
            <a:endParaRPr lang="en-US" sz="1500"/>
          </a:p>
        </p:txBody>
      </p:sp>
      <p:sp>
        <p:nvSpPr>
          <p:cNvPr id="1071252529" name="Shape 4"/>
          <p:cNvSpPr/>
          <p:nvPr/>
        </p:nvSpPr>
        <p:spPr bwMode="auto">
          <a:xfrm>
            <a:off x="7955280" y="187452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EEF3F6"/>
          </a:solidFill>
          <a:ln/>
        </p:spPr>
      </p:sp>
      <p:sp>
        <p:nvSpPr>
          <p:cNvPr id="1017447108" name="Text 5"/>
          <p:cNvSpPr/>
          <p:nvPr/>
        </p:nvSpPr>
        <p:spPr bwMode="auto">
          <a:xfrm>
            <a:off x="822960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Con AWS Academy trabajaréis:</a:t>
            </a:r>
            <a:endParaRPr lang="en-US" sz="1300"/>
          </a:p>
        </p:txBody>
      </p:sp>
      <p:sp>
        <p:nvSpPr>
          <p:cNvPr id="1401386664" name="Shape 6"/>
          <p:cNvSpPr/>
          <p:nvPr/>
        </p:nvSpPr>
        <p:spPr bwMode="auto">
          <a:xfrm>
            <a:off x="8229600" y="2743200"/>
            <a:ext cx="146304" cy="146304"/>
          </a:xfrm>
          <a:prstGeom prst="ellipse">
            <a:avLst/>
          </a:prstGeom>
          <a:solidFill>
            <a:srgbClr val="FF7A33"/>
          </a:solidFill>
          <a:ln/>
        </p:spPr>
      </p:sp>
      <p:sp>
        <p:nvSpPr>
          <p:cNvPr id="845280087" name="Text 7"/>
          <p:cNvSpPr/>
          <p:nvPr/>
        </p:nvSpPr>
        <p:spPr bwMode="auto">
          <a:xfrm>
            <a:off x="8503920" y="2606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Cloud computing</a:t>
            </a:r>
            <a:endParaRPr lang="en-US" sz="1250"/>
          </a:p>
        </p:txBody>
      </p:sp>
      <p:sp>
        <p:nvSpPr>
          <p:cNvPr id="1951288341" name="Shape 8"/>
          <p:cNvSpPr/>
          <p:nvPr/>
        </p:nvSpPr>
        <p:spPr bwMode="auto">
          <a:xfrm>
            <a:off x="8229600" y="3429000"/>
            <a:ext cx="146304" cy="146304"/>
          </a:xfrm>
          <a:prstGeom prst="ellipse">
            <a:avLst/>
          </a:prstGeom>
          <a:solidFill>
            <a:srgbClr val="FF7A33"/>
          </a:solidFill>
          <a:ln/>
        </p:spPr>
      </p:sp>
      <p:sp>
        <p:nvSpPr>
          <p:cNvPr id="1099467362" name="Text 9"/>
          <p:cNvSpPr/>
          <p:nvPr/>
        </p:nvSpPr>
        <p:spPr bwMode="auto">
          <a:xfrm>
            <a:off x="8503920" y="3291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Bases de datos en la nube</a:t>
            </a:r>
            <a:endParaRPr lang="en-US" sz="1250"/>
          </a:p>
        </p:txBody>
      </p:sp>
      <p:sp>
        <p:nvSpPr>
          <p:cNvPr id="182890471" name="Shape 10"/>
          <p:cNvSpPr/>
          <p:nvPr/>
        </p:nvSpPr>
        <p:spPr bwMode="auto">
          <a:xfrm>
            <a:off x="8229600" y="4114800"/>
            <a:ext cx="146304" cy="146304"/>
          </a:xfrm>
          <a:prstGeom prst="ellipse">
            <a:avLst/>
          </a:prstGeom>
          <a:solidFill>
            <a:srgbClr val="FF7A33"/>
          </a:solidFill>
          <a:ln/>
        </p:spPr>
      </p:sp>
      <p:sp>
        <p:nvSpPr>
          <p:cNvPr id="1836549906" name="Text 11"/>
          <p:cNvSpPr/>
          <p:nvPr/>
        </p:nvSpPr>
        <p:spPr bwMode="auto">
          <a:xfrm>
            <a:off x="8503920" y="39776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Despliegue de aplicaciones</a:t>
            </a:r>
            <a:endParaRPr lang="en-US" sz="1250"/>
          </a:p>
        </p:txBody>
      </p:sp>
      <p:sp>
        <p:nvSpPr>
          <p:cNvPr id="653075986" name="Shape 12"/>
          <p:cNvSpPr/>
          <p:nvPr/>
        </p:nvSpPr>
        <p:spPr bwMode="auto">
          <a:xfrm>
            <a:off x="8229600" y="4800600"/>
            <a:ext cx="146304" cy="146304"/>
          </a:xfrm>
          <a:prstGeom prst="ellipse">
            <a:avLst/>
          </a:prstGeom>
          <a:solidFill>
            <a:srgbClr val="FF7A33"/>
          </a:solidFill>
          <a:ln/>
        </p:spPr>
      </p:sp>
      <p:sp>
        <p:nvSpPr>
          <p:cNvPr id="740425247" name="Text 13"/>
          <p:cNvSpPr/>
          <p:nvPr/>
        </p:nvSpPr>
        <p:spPr bwMode="auto">
          <a:xfrm>
            <a:off x="8503920" y="4663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Itinerario hacia certificaciones oficiales</a:t>
            </a:r>
            <a:endParaRPr lang="en-US" sz="1250"/>
          </a:p>
        </p:txBody>
      </p:sp>
      <p:sp>
        <p:nvSpPr>
          <p:cNvPr id="63719061" name="Text 14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1598146285" name="Text 15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900"/>
          </a:p>
        </p:txBody>
      </p:sp>
      <p:pic>
        <p:nvPicPr>
          <p:cNvPr id="63955215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815544" y="4392738"/>
            <a:ext cx="3695790" cy="1505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451630" name="Text 0"/>
          <p:cNvSpPr/>
          <p:nvPr/>
        </p:nvSpPr>
        <p:spPr bwMode="auto"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MATERIALES DEL CURSO</a:t>
            </a:r>
            <a:endParaRPr lang="en-US" sz="1300"/>
          </a:p>
        </p:txBody>
      </p:sp>
      <p:sp>
        <p:nvSpPr>
          <p:cNvPr id="436287114" name="Text 1"/>
          <p:cNvSpPr/>
          <p:nvPr/>
        </p:nvSpPr>
        <p:spPr bwMode="auto"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No hace falta ningún libro</a:t>
            </a:r>
            <a:endParaRPr lang="en-US" sz="3200"/>
          </a:p>
        </p:txBody>
      </p:sp>
      <p:sp>
        <p:nvSpPr>
          <p:cNvPr id="1670274923" name="Shape 2"/>
          <p:cNvSpPr/>
          <p:nvPr/>
        </p:nvSpPr>
        <p:spPr bwMode="auto">
          <a:xfrm>
            <a:off x="9052560" y="1828800"/>
            <a:ext cx="1828800" cy="1828800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100933645" name="Image 0" descr="/home/claude/daw-ppt/icons/cap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464040" y="2240280"/>
            <a:ext cx="1005840" cy="1005840"/>
          </a:xfrm>
          <a:prstGeom prst="rect">
            <a:avLst/>
          </a:prstGeom>
        </p:spPr>
      </p:pic>
      <p:sp>
        <p:nvSpPr>
          <p:cNvPr id="697614134" name="Text 3"/>
          <p:cNvSpPr/>
          <p:nvPr/>
        </p:nvSpPr>
        <p:spPr bwMode="auto">
          <a:xfrm>
            <a:off x="640080" y="196596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  <a:defRPr/>
            </a:pPr>
            <a:r>
              <a:rPr lang="en-US" sz="18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Todos los materiales, apuntes, tareas y entregas del curso están en la </a:t>
            </a:r>
            <a:r>
              <a:rPr lang="en-US" sz="1800" b="1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plataforma </a:t>
            </a:r>
            <a:r>
              <a:rPr lang="en-US" sz="1800" b="1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Moodle </a:t>
            </a:r>
            <a:r>
              <a:rPr lang="en-US" sz="18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del centro.</a:t>
            </a:r>
            <a:endParaRPr lang="en-US" sz="180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  <a:defRPr/>
            </a:pPr>
            <a:r>
              <a:rPr lang="en-US" sz="18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No es necesario comprar ningún libro de texto: todo el contenido se organiza y se actualiza directamente en el aula virtual.</a:t>
            </a:r>
            <a:endParaRPr lang="en-US" sz="180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8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Sí es imprescindible revisar Moodle con regularidad — ahí se publican avisos, fechas de entrega y material de cada módulo.</a:t>
            </a:r>
            <a:endParaRPr lang="en-US" sz="1800"/>
          </a:p>
        </p:txBody>
      </p:sp>
      <p:sp>
        <p:nvSpPr>
          <p:cNvPr id="797146640" name="Text 4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2027326368" name="Text 5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900"/>
          </a:p>
        </p:txBody>
      </p:sp>
      <p:pic>
        <p:nvPicPr>
          <p:cNvPr id="26296889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0328" y="4558598"/>
            <a:ext cx="2571750" cy="1019174"/>
          </a:xfrm>
          <a:prstGeom prst="rect">
            <a:avLst/>
          </a:prstGeom>
        </p:spPr>
      </p:pic>
      <p:sp>
        <p:nvSpPr>
          <p:cNvPr id="573322452" name=""/>
          <p:cNvSpPr txBox="1"/>
          <p:nvPr/>
        </p:nvSpPr>
        <p:spPr bwMode="auto">
          <a:xfrm rot="0" flipH="0" flipV="0">
            <a:off x="3387704" y="4885125"/>
            <a:ext cx="803307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5" tooltip=""/>
              </a:rPr>
              <a:t>https://educacionadistancia.juntadeandalucia.es/centros/almeria/login/index.php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954294" name="Text 0"/>
          <p:cNvSpPr/>
          <p:nvPr/>
        </p:nvSpPr>
        <p:spPr bwMode="auto"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CÓMO TRABAJAMOS EN CLASE</a:t>
            </a:r>
            <a:endParaRPr lang="en-US" sz="1300"/>
          </a:p>
        </p:txBody>
      </p:sp>
      <p:sp>
        <p:nvSpPr>
          <p:cNvPr id="1235914295" name="Text 1"/>
          <p:cNvSpPr/>
          <p:nvPr/>
        </p:nvSpPr>
        <p:spPr bwMode="auto"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Normas de convivencia</a:t>
            </a:r>
            <a:endParaRPr lang="en-US" sz="3200"/>
          </a:p>
        </p:txBody>
      </p:sp>
      <p:sp>
        <p:nvSpPr>
          <p:cNvPr id="1831931752" name="Shape 2"/>
          <p:cNvSpPr/>
          <p:nvPr/>
        </p:nvSpPr>
        <p:spPr bwMode="auto">
          <a:xfrm>
            <a:off x="640080" y="187452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8788320" name="Image 0" descr="/home/claude/daw-ppt/icons/mobile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84098" y="2018538"/>
            <a:ext cx="352044" cy="352044"/>
          </a:xfrm>
          <a:prstGeom prst="rect">
            <a:avLst/>
          </a:prstGeom>
        </p:spPr>
      </p:pic>
      <p:sp>
        <p:nvSpPr>
          <p:cNvPr id="1319187639" name="Text 3"/>
          <p:cNvSpPr/>
          <p:nvPr/>
        </p:nvSpPr>
        <p:spPr bwMode="auto">
          <a:xfrm>
            <a:off x="1508759" y="1828799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Sin móvil en clase</a:t>
            </a:r>
            <a:endParaRPr lang="en-US" sz="1600"/>
          </a:p>
        </p:txBody>
      </p:sp>
      <p:sp>
        <p:nvSpPr>
          <p:cNvPr id="982538766" name="Text 4"/>
          <p:cNvSpPr/>
          <p:nvPr/>
        </p:nvSpPr>
        <p:spPr bwMode="auto">
          <a:xfrm>
            <a:off x="4434840" y="184708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4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El teléfono se guarda durante la clase. Si tenéis que atender o hacer una llamada importante, se sale del aula.</a:t>
            </a:r>
            <a:endParaRPr lang="en-US" sz="1400"/>
          </a:p>
        </p:txBody>
      </p:sp>
      <p:sp>
        <p:nvSpPr>
          <p:cNvPr id="1446620206" name="Shape 5"/>
          <p:cNvSpPr/>
          <p:nvPr/>
        </p:nvSpPr>
        <p:spPr bwMode="auto">
          <a:xfrm>
            <a:off x="640080" y="292608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499955453" name="Image 1" descr="/home/claude/daw-ppt/icons/clock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84098" y="3070098"/>
            <a:ext cx="352044" cy="352044"/>
          </a:xfrm>
          <a:prstGeom prst="rect">
            <a:avLst/>
          </a:prstGeom>
        </p:spPr>
      </p:pic>
      <p:sp>
        <p:nvSpPr>
          <p:cNvPr id="2009495670" name="Text 6"/>
          <p:cNvSpPr/>
          <p:nvPr/>
        </p:nvSpPr>
        <p:spPr bwMode="auto">
          <a:xfrm>
            <a:off x="1508759" y="28986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Puntualidad</a:t>
            </a:r>
            <a:endParaRPr lang="en-US" sz="1600"/>
          </a:p>
        </p:txBody>
      </p:sp>
      <p:sp>
        <p:nvSpPr>
          <p:cNvPr id="746452526" name="Text 7"/>
          <p:cNvSpPr/>
          <p:nvPr/>
        </p:nvSpPr>
        <p:spPr bwMode="auto">
          <a:xfrm>
            <a:off x="4434840" y="289864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4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Empezamos a la hora: llegar tarde interrumpe la clase y os hace perder explicaciones importantes.</a:t>
            </a:r>
            <a:endParaRPr lang="en-US" sz="1400"/>
          </a:p>
        </p:txBody>
      </p:sp>
      <p:sp>
        <p:nvSpPr>
          <p:cNvPr id="358891963" name="Shape 8"/>
          <p:cNvSpPr/>
          <p:nvPr/>
        </p:nvSpPr>
        <p:spPr bwMode="auto">
          <a:xfrm>
            <a:off x="640080" y="397764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474777329" name="Image 2" descr="/home/claude/daw-ppt/icons/users_whit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84098" y="4121658"/>
            <a:ext cx="352044" cy="352044"/>
          </a:xfrm>
          <a:prstGeom prst="rect">
            <a:avLst/>
          </a:prstGeom>
        </p:spPr>
      </p:pic>
      <p:sp>
        <p:nvSpPr>
          <p:cNvPr id="2061759175" name="Text 9"/>
          <p:cNvSpPr/>
          <p:nvPr/>
        </p:nvSpPr>
        <p:spPr bwMode="auto">
          <a:xfrm>
            <a:off x="1508759" y="395020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Respeto y participación</a:t>
            </a:r>
            <a:endParaRPr lang="en-US" sz="1600"/>
          </a:p>
        </p:txBody>
      </p:sp>
      <p:sp>
        <p:nvSpPr>
          <p:cNvPr id="1928840376" name="Text 10"/>
          <p:cNvSpPr/>
          <p:nvPr/>
        </p:nvSpPr>
        <p:spPr bwMode="auto">
          <a:xfrm>
            <a:off x="4434840" y="395020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4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Preguntad todo lo que necesitéis: no hay preguntas tontas. El respeto entre compañeros y hacia el profesorado es innegociable.</a:t>
            </a:r>
            <a:endParaRPr lang="en-US" sz="1400"/>
          </a:p>
        </p:txBody>
      </p:sp>
      <p:sp>
        <p:nvSpPr>
          <p:cNvPr id="23519823" name="Shape 11"/>
          <p:cNvSpPr/>
          <p:nvPr/>
        </p:nvSpPr>
        <p:spPr bwMode="auto">
          <a:xfrm>
            <a:off x="640080" y="50292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53799110" name="Image 3" descr="/home/claude/daw-ppt/icons/check_whit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84098" y="5173218"/>
            <a:ext cx="352044" cy="352044"/>
          </a:xfrm>
          <a:prstGeom prst="rect">
            <a:avLst/>
          </a:prstGeom>
        </p:spPr>
      </p:pic>
      <p:sp>
        <p:nvSpPr>
          <p:cNvPr id="1078213279" name="Text 12"/>
          <p:cNvSpPr/>
          <p:nvPr/>
        </p:nvSpPr>
        <p:spPr bwMode="auto">
          <a:xfrm>
            <a:off x="1508759" y="50017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Entregas a tiempo</a:t>
            </a:r>
            <a:endParaRPr lang="en-US" sz="1600"/>
          </a:p>
        </p:txBody>
      </p:sp>
      <p:sp>
        <p:nvSpPr>
          <p:cNvPr id="1302665447" name="Text 13"/>
          <p:cNvSpPr/>
          <p:nvPr/>
        </p:nvSpPr>
        <p:spPr bwMode="auto">
          <a:xfrm>
            <a:off x="4434840" y="500176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4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Las tareas se entregan por Moodle en la fecha indicada; la organización es parte de la evaluación.</a:t>
            </a:r>
            <a:endParaRPr lang="en-US" sz="1400"/>
          </a:p>
        </p:txBody>
      </p:sp>
      <p:sp>
        <p:nvSpPr>
          <p:cNvPr id="1038459802" name="Text 14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1761276644" name="Text 15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337246" name="Text 0"/>
          <p:cNvSpPr/>
          <p:nvPr/>
        </p:nvSpPr>
        <p:spPr bwMode="auto"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Y DESPUÉS DEL CICLO</a:t>
            </a:r>
            <a:endParaRPr lang="en-US" sz="1300"/>
          </a:p>
        </p:txBody>
      </p:sp>
      <p:sp>
        <p:nvSpPr>
          <p:cNvPr id="323581920" name="Text 1"/>
          <p:cNvSpPr/>
          <p:nvPr/>
        </p:nvSpPr>
        <p:spPr bwMode="auto"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Salidas profesionales</a:t>
            </a:r>
            <a:endParaRPr lang="en-US" sz="3200"/>
          </a:p>
        </p:txBody>
      </p:sp>
      <p:sp>
        <p:nvSpPr>
          <p:cNvPr id="833693185" name="Shape 2"/>
          <p:cNvSpPr/>
          <p:nvPr/>
        </p:nvSpPr>
        <p:spPr bwMode="auto">
          <a:xfrm>
            <a:off x="640080" y="192024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34195140" name="Image 0" descr="/home/claude/daw-ppt/icons/briefcase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5246" y="2105406"/>
            <a:ext cx="452628" cy="452628"/>
          </a:xfrm>
          <a:prstGeom prst="rect">
            <a:avLst/>
          </a:prstGeom>
        </p:spPr>
      </p:pic>
      <p:sp>
        <p:nvSpPr>
          <p:cNvPr id="508893911" name="Text 3"/>
          <p:cNvSpPr/>
          <p:nvPr/>
        </p:nvSpPr>
        <p:spPr bwMode="auto">
          <a:xfrm>
            <a:off x="169164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Trabajar como...</a:t>
            </a:r>
            <a:endParaRPr lang="en-US" sz="1800"/>
          </a:p>
        </p:txBody>
      </p:sp>
      <p:sp>
        <p:nvSpPr>
          <p:cNvPr id="1790203226" name="Text 4"/>
          <p:cNvSpPr/>
          <p:nvPr/>
        </p:nvSpPr>
        <p:spPr bwMode="auto">
          <a:xfrm flipH="0" flipV="0">
            <a:off x="1691640" y="2606040"/>
            <a:ext cx="4489668" cy="2123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600" b="0" i="0" u="none" strike="noStrike" cap="none" spc="0">
                <a:solidFill/>
                <a:latin typeface="Calibri"/>
                <a:ea typeface="Calibri"/>
                <a:cs typeface="Calibri"/>
              </a:rPr>
              <a:t>Desarrollador/a Front-end, Back-end o Full-stack · Diseño y mantenimiento de bases de datos · Despliegue y</a:t>
            </a:r>
            <a:r>
              <a:rPr lang="en-US" sz="1600" b="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 administración de aplicaciones web · Freelance / emprendimiento propio</a:t>
            </a:r>
            <a:r>
              <a:rPr lang="es-ES" sz="1600" b="0"/>
              <a:t> </a:t>
            </a:r>
            <a:r>
              <a:rPr lang="en-US" sz="1600" b="0" i="0" u="none" strike="noStrike" cap="none" spc="0">
                <a:solidFill/>
                <a:latin typeface="Calibri"/>
                <a:ea typeface="Calibri"/>
                <a:cs typeface="Calibri"/>
              </a:rPr>
              <a:t> · </a:t>
            </a:r>
            <a:endParaRPr lang="es-ES" sz="1600" b="0"/>
          </a:p>
          <a:p>
            <a:pPr marL="0" marR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600" b="0"/>
              <a:t>Desarrollador soluciones IA </a:t>
            </a:r>
            <a:r>
              <a:rPr lang="en-US" sz="1600" b="0" i="0" u="none" strike="noStrike" cap="none" spc="0">
                <a:solidFill/>
                <a:latin typeface="Calibri"/>
                <a:ea typeface="Calibri"/>
                <a:cs typeface="Calibri"/>
              </a:rPr>
              <a:t> · </a:t>
            </a:r>
            <a:endParaRPr lang="es-ES" sz="1600" b="0"/>
          </a:p>
          <a:p>
            <a:pPr marL="0" marR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600" b="0"/>
              <a:t>Desarrollador soluciones IoT</a:t>
            </a:r>
            <a:endParaRPr lang="es-ES" sz="1600" b="0"/>
          </a:p>
          <a:p>
            <a:pPr marL="0" marR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600" b="0"/>
              <a:t>Y más ...</a:t>
            </a:r>
            <a:endParaRPr lang="en-US" sz="1600"/>
          </a:p>
        </p:txBody>
      </p:sp>
      <p:sp>
        <p:nvSpPr>
          <p:cNvPr id="1902428962" name="Shape 5"/>
          <p:cNvSpPr/>
          <p:nvPr/>
        </p:nvSpPr>
        <p:spPr bwMode="auto">
          <a:xfrm>
            <a:off x="6492240" y="1920240"/>
            <a:ext cx="822960" cy="822960"/>
          </a:xfrm>
          <a:prstGeom prst="ellipse">
            <a:avLst/>
          </a:prstGeom>
          <a:solidFill>
            <a:srgbClr val="12A8A0"/>
          </a:solidFill>
          <a:ln/>
        </p:spPr>
      </p:sp>
      <p:pic>
        <p:nvPicPr>
          <p:cNvPr id="1915127872" name="Image 1" descr="/home/claude/daw-ppt/icons/cap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677406" y="2105406"/>
            <a:ext cx="452628" cy="452628"/>
          </a:xfrm>
          <a:prstGeom prst="rect">
            <a:avLst/>
          </a:prstGeom>
        </p:spPr>
      </p:pic>
      <p:sp>
        <p:nvSpPr>
          <p:cNvPr id="1399977933" name="Text 6"/>
          <p:cNvSpPr/>
          <p:nvPr/>
        </p:nvSpPr>
        <p:spPr bwMode="auto">
          <a:xfrm>
            <a:off x="75438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Seguir estudiando</a:t>
            </a:r>
            <a:endParaRPr lang="en-US" sz="1800"/>
          </a:p>
        </p:txBody>
      </p:sp>
      <p:sp>
        <p:nvSpPr>
          <p:cNvPr id="1964431987" name="Text 7"/>
          <p:cNvSpPr/>
          <p:nvPr/>
        </p:nvSpPr>
        <p:spPr bwMode="auto">
          <a:xfrm flipH="0" flipV="0">
            <a:off x="7543800" y="2606040"/>
            <a:ext cx="4023360" cy="2056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806" indent="-228806">
              <a:lnSpc>
                <a:spcPct val="125000"/>
              </a:lnSpc>
              <a:buFont typeface="Arial"/>
              <a:buChar char="•"/>
              <a:defRPr/>
            </a:pPr>
            <a:r>
              <a:rPr lang="en-US" sz="16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Acceso directo a la Universidad (Grados de Ingeniería Informática y afines, con posibles convalidaciones)</a:t>
            </a:r>
            <a:endParaRPr lang="en-US" sz="1600">
              <a:solidFill>
                <a:srgbClr val="122436"/>
              </a:solidFill>
              <a:latin typeface="Calibri"/>
              <a:ea typeface="Calibri"/>
              <a:cs typeface="Calibri"/>
            </a:endParaRPr>
          </a:p>
          <a:p>
            <a:pPr marL="228806" indent="-228806">
              <a:lnSpc>
                <a:spcPct val="125000"/>
              </a:lnSpc>
              <a:buFont typeface="Arial"/>
              <a:buChar char="•"/>
              <a:defRPr/>
            </a:pPr>
            <a:r>
              <a:rPr lang="es-ES" sz="16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Doble titulación con DAM (un solo curso) </a:t>
            </a:r>
            <a:endParaRPr lang="en-US" sz="1600">
              <a:solidFill>
                <a:srgbClr val="122436"/>
              </a:solidFill>
              <a:latin typeface="Calibri"/>
              <a:ea typeface="Calibri"/>
              <a:cs typeface="Calibri"/>
            </a:endParaRPr>
          </a:p>
          <a:p>
            <a:pPr marL="228806" indent="-228806">
              <a:lnSpc>
                <a:spcPct val="125000"/>
              </a:lnSpc>
              <a:buFont typeface="Arial"/>
              <a:buChar char="•"/>
              <a:defRPr/>
            </a:pPr>
            <a:r>
              <a:rPr lang="en-US" sz="16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Especialización con un Curso de Especialización</a:t>
            </a:r>
            <a:r>
              <a:rPr lang="es-ES" sz="1600">
                <a:solidFill>
                  <a:srgbClr val="122436"/>
                </a:solidFill>
                <a:latin typeface="Calibri"/>
                <a:ea typeface="Calibri"/>
                <a:cs typeface="Calibri"/>
              </a:rPr>
              <a:t> (videojuegos, IA, ciberseguridad, ...)</a:t>
            </a:r>
            <a:r>
              <a:rPr lang="es-ES" sz="2200"/>
              <a:t> </a:t>
            </a:r>
            <a:endParaRPr lang="en-US" sz="1600"/>
          </a:p>
        </p:txBody>
      </p:sp>
      <p:sp>
        <p:nvSpPr>
          <p:cNvPr id="845930266" name="Shape 8"/>
          <p:cNvSpPr/>
          <p:nvPr/>
        </p:nvSpPr>
        <p:spPr bwMode="auto">
          <a:xfrm>
            <a:off x="640080" y="4863952"/>
            <a:ext cx="1060704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2135506163" name="Text 9"/>
          <p:cNvSpPr/>
          <p:nvPr/>
        </p:nvSpPr>
        <p:spPr bwMode="auto">
          <a:xfrm flipH="0" flipV="0">
            <a:off x="640080" y="4992872"/>
            <a:ext cx="10607040" cy="733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50" i="1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El desarrollo web es uno de los perfiles TIC más demandados: cuantas más herramientas domines (cloud, buenas prácticas, trabajo en equipo), mejor será tu punto de partida.</a:t>
            </a:r>
            <a:endParaRPr lang="en-US" sz="1350"/>
          </a:p>
        </p:txBody>
      </p:sp>
      <p:sp>
        <p:nvSpPr>
          <p:cNvPr id="1482824562" name="Text 10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769671631" name="Text 11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207911" name="Text 0"/>
          <p:cNvSpPr/>
          <p:nvPr/>
        </p:nvSpPr>
        <p:spPr bwMode="auto"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2A8A0"/>
                </a:solidFill>
                <a:latin typeface="Calibri"/>
                <a:ea typeface="Calibri"/>
                <a:cs typeface="Calibri"/>
              </a:rPr>
              <a:t>PARA SEGUIR PENSANDO</a:t>
            </a:r>
            <a:endParaRPr lang="en-US" sz="1300"/>
          </a:p>
        </p:txBody>
      </p:sp>
      <p:sp>
        <p:nvSpPr>
          <p:cNvPr id="52152420" name="Text 1"/>
          <p:cNvSpPr/>
          <p:nvPr/>
        </p:nvSpPr>
        <p:spPr bwMode="auto"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Dos vídeos que abren el debate</a:t>
            </a:r>
            <a:endParaRPr lang="en-US" sz="3200"/>
          </a:p>
        </p:txBody>
      </p:sp>
      <p:sp>
        <p:nvSpPr>
          <p:cNvPr id="2072070577" name="Shape 2"/>
          <p:cNvSpPr/>
          <p:nvPr/>
        </p:nvSpPr>
        <p:spPr bwMode="auto">
          <a:xfrm>
            <a:off x="640080" y="196596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0B2545"/>
          </a:solidFill>
          <a:ln/>
        </p:spPr>
      </p:sp>
      <p:sp>
        <p:nvSpPr>
          <p:cNvPr id="1863009724" name="Shape 3"/>
          <p:cNvSpPr/>
          <p:nvPr/>
        </p:nvSpPr>
        <p:spPr bwMode="auto">
          <a:xfrm>
            <a:off x="1005840" y="2286000"/>
            <a:ext cx="777240" cy="777240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2039800042" name="Image 0" descr="/home/claude/daw-ppt/icons/play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80719" y="2460879"/>
            <a:ext cx="427482" cy="427482"/>
          </a:xfrm>
          <a:prstGeom prst="rect">
            <a:avLst/>
          </a:prstGeom>
        </p:spPr>
      </p:pic>
      <p:sp>
        <p:nvSpPr>
          <p:cNvPr id="1169022537" name="Text 4"/>
          <p:cNvSpPr/>
          <p:nvPr/>
        </p:nvSpPr>
        <p:spPr bwMode="auto">
          <a:xfrm>
            <a:off x="1005840" y="324612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La IA está matando la programación:</a:t>
            </a:r>
            <a:endParaRPr lang="en-US" sz="200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¿Qué le está pasando a los junior?</a:t>
            </a:r>
            <a:endParaRPr lang="en-US" sz="2000"/>
          </a:p>
        </p:txBody>
      </p:sp>
      <p:sp>
        <p:nvSpPr>
          <p:cNvPr id="1586328910" name="Text 5">
            <a:hlinkClick r:id="rId4" tooltip=""/>
          </p:cNvPr>
          <p:cNvSpPr/>
          <p:nvPr/>
        </p:nvSpPr>
        <p:spPr bwMode="auto">
          <a:xfrm>
            <a:off x="1005840" y="4892039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u="sng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hlinkClick r:id="rId4" tooltip=""/>
              </a:rPr>
              <a:t>https://www.youtube.com/watch?v=JzI04oGNcVw</a:t>
            </a:r>
            <a:endParaRPr sz="1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8129793" name="Shape 6"/>
          <p:cNvSpPr/>
          <p:nvPr/>
        </p:nvSpPr>
        <p:spPr bwMode="auto">
          <a:xfrm>
            <a:off x="6263640" y="196596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0B2545"/>
          </a:solidFill>
          <a:ln/>
        </p:spPr>
      </p:sp>
      <p:sp>
        <p:nvSpPr>
          <p:cNvPr id="122525947" name="Shape 7"/>
          <p:cNvSpPr/>
          <p:nvPr/>
        </p:nvSpPr>
        <p:spPr bwMode="auto">
          <a:xfrm>
            <a:off x="6629400" y="2286000"/>
            <a:ext cx="777240" cy="777240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378636103" name="Image 1" descr="/home/claude/daw-ppt/icons/play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04279" y="2460879"/>
            <a:ext cx="427482" cy="427482"/>
          </a:xfrm>
          <a:prstGeom prst="rect">
            <a:avLst/>
          </a:prstGeom>
        </p:spPr>
      </p:pic>
      <p:sp>
        <p:nvSpPr>
          <p:cNvPr id="336872558" name="Text 8"/>
          <p:cNvSpPr/>
          <p:nvPr/>
        </p:nvSpPr>
        <p:spPr bwMode="auto">
          <a:xfrm>
            <a:off x="6629400" y="324612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El fin de la burbuja:</a:t>
            </a:r>
            <a:endParaRPr lang="en-US" sz="200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¿Por qué la IA no reemplaza programadores?</a:t>
            </a:r>
            <a:endParaRPr lang="en-US" sz="2000"/>
          </a:p>
        </p:txBody>
      </p:sp>
      <p:sp>
        <p:nvSpPr>
          <p:cNvPr id="1147356064" name="Text 9">
            <a:hlinkClick r:id="rId5" tooltip=""/>
          </p:cNvPr>
          <p:cNvSpPr/>
          <p:nvPr/>
        </p:nvSpPr>
        <p:spPr bwMode="auto">
          <a:xfrm>
            <a:off x="6629400" y="4892039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u="sng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hlinkClick r:id="rId5" tooltip=""/>
              </a:rPr>
              <a:t>https://www.youtube.com/watch?v=CauENcmaL80</a:t>
            </a:r>
            <a:endParaRPr sz="1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06696518" name="Text 10"/>
          <p:cNvSpPr/>
          <p:nvPr/>
        </p:nvSpPr>
        <p:spPr bwMode="auto">
          <a:xfrm>
            <a:off x="640080" y="5943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Los veremos juntos más adelante en el curso — merece la pena tenerlos en mente desde el primer día.</a:t>
            </a:r>
            <a:endParaRPr lang="en-US" sz="1250"/>
          </a:p>
        </p:txBody>
      </p:sp>
      <p:sp>
        <p:nvSpPr>
          <p:cNvPr id="865586102" name="Text 11"/>
          <p:cNvSpPr/>
          <p:nvPr/>
        </p:nvSpPr>
        <p:spPr bwMode="auto"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spc="1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IES JAROSO  ·  CFGS DESARROLLO DE APLICACIONES WEB</a:t>
            </a:r>
            <a:endParaRPr lang="en-US" sz="900"/>
          </a:p>
        </p:txBody>
      </p:sp>
      <p:sp>
        <p:nvSpPr>
          <p:cNvPr id="1860315411" name="Text 12"/>
          <p:cNvSpPr/>
          <p:nvPr/>
        </p:nvSpPr>
        <p:spPr bwMode="auto"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</a:rPr>
              <a:t>17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0B254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282939" name="Shape 0"/>
          <p:cNvSpPr/>
          <p:nvPr/>
        </p:nvSpPr>
        <p:spPr bwMode="auto">
          <a:xfrm>
            <a:off x="9692640" y="-1828800"/>
            <a:ext cx="4206240" cy="4206240"/>
          </a:xfrm>
          <a:prstGeom prst="ellipse">
            <a:avLst/>
          </a:prstGeom>
          <a:solidFill>
            <a:srgbClr val="133B6B"/>
          </a:solidFill>
          <a:ln/>
        </p:spPr>
      </p:sp>
      <p:sp>
        <p:nvSpPr>
          <p:cNvPr id="1791842984" name="Shape 1"/>
          <p:cNvSpPr/>
          <p:nvPr/>
        </p:nvSpPr>
        <p:spPr bwMode="auto">
          <a:xfrm>
            <a:off x="10881360" y="5120640"/>
            <a:ext cx="2743200" cy="2743200"/>
          </a:xfrm>
          <a:prstGeom prst="ellipse">
            <a:avLst/>
          </a:prstGeom>
          <a:solidFill>
            <a:srgbClr val="133B6B"/>
          </a:solidFill>
          <a:ln/>
        </p:spPr>
      </p:sp>
      <p:sp>
        <p:nvSpPr>
          <p:cNvPr id="1719558954" name="Shape 2"/>
          <p:cNvSpPr/>
          <p:nvPr/>
        </p:nvSpPr>
        <p:spPr bwMode="auto">
          <a:xfrm>
            <a:off x="640080" y="822960"/>
            <a:ext cx="868680" cy="868680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1570074085" name="Image 0" descr="/home/claude/daw-ppt/icons/handshake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5533" y="1018413"/>
            <a:ext cx="477774" cy="477774"/>
          </a:xfrm>
          <a:prstGeom prst="rect">
            <a:avLst/>
          </a:prstGeom>
        </p:spPr>
      </p:pic>
      <p:sp>
        <p:nvSpPr>
          <p:cNvPr id="601861889" name="Text 3"/>
          <p:cNvSpPr/>
          <p:nvPr/>
        </p:nvSpPr>
        <p:spPr bwMode="auto">
          <a:xfrm>
            <a:off x="640080" y="1920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Bienvenidos y bienvenidas al equipo</a:t>
            </a:r>
            <a:endParaRPr lang="en-US" sz="3400"/>
          </a:p>
        </p:txBody>
      </p:sp>
      <p:sp>
        <p:nvSpPr>
          <p:cNvPr id="1475570275" name="Text 4"/>
          <p:cNvSpPr/>
          <p:nvPr/>
        </p:nvSpPr>
        <p:spPr bwMode="auto">
          <a:xfrm>
            <a:off x="640080" y="26974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C9D6E3"/>
                </a:solidFill>
                <a:latin typeface="Calibri"/>
                <a:ea typeface="Calibri"/>
                <a:cs typeface="Calibri"/>
              </a:rPr>
              <a:t>Este curso lo construimos entre todos</a:t>
            </a:r>
            <a:r>
              <a:rPr lang="es-ES" sz="1800">
                <a:solidFill>
                  <a:srgbClr val="C9D6E3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1800">
                <a:solidFill>
                  <a:srgbClr val="C9D6E3"/>
                </a:solidFill>
                <a:latin typeface="Calibri"/>
                <a:ea typeface="Calibri"/>
                <a:cs typeface="Calibri"/>
              </a:rPr>
              <a:t> cualquier duda, propuesta o corrección, adelante.</a:t>
            </a:r>
            <a:endParaRPr lang="en-US" sz="1800"/>
          </a:p>
        </p:txBody>
      </p:sp>
      <p:sp>
        <p:nvSpPr>
          <p:cNvPr id="281494385" name="Shape 5"/>
          <p:cNvSpPr/>
          <p:nvPr/>
        </p:nvSpPr>
        <p:spPr bwMode="auto">
          <a:xfrm>
            <a:off x="658368" y="3657600"/>
            <a:ext cx="1280160" cy="0"/>
          </a:xfrm>
          <a:prstGeom prst="line">
            <a:avLst/>
          </a:prstGeom>
          <a:noFill/>
          <a:ln w="38100">
            <a:solidFill>
              <a:srgbClr val="FF7A33"/>
            </a:solidFill>
            <a:prstDash val="solid"/>
          </a:ln>
        </p:spPr>
      </p:sp>
      <p:sp>
        <p:nvSpPr>
          <p:cNvPr id="184305895" name="Text 6"/>
          <p:cNvSpPr/>
          <p:nvPr/>
        </p:nvSpPr>
        <p:spPr bwMode="auto">
          <a:xfrm>
            <a:off x="64008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Plataforma del curso: Moodle IES Jaroso</a:t>
            </a:r>
            <a:endParaRPr lang="en-US" sz="1400"/>
          </a:p>
        </p:txBody>
      </p:sp>
      <p:sp>
        <p:nvSpPr>
          <p:cNvPr id="1108112608" name="Text 7"/>
          <p:cNvSpPr/>
          <p:nvPr/>
        </p:nvSpPr>
        <p:spPr bwMode="auto">
          <a:xfrm>
            <a:off x="64008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s-E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Jefe de Departamento: Javier Guillén</a:t>
            </a:r>
            <a:endParaRPr lang="en-US" sz="1400"/>
          </a:p>
        </p:txBody>
      </p:sp>
      <p:sp>
        <p:nvSpPr>
          <p:cNvPr id="610428627" name="Text 8"/>
          <p:cNvSpPr/>
          <p:nvPr/>
        </p:nvSpPr>
        <p:spPr bwMode="auto">
          <a:xfrm>
            <a:off x="64008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IES Jaroso · Cuevas de Almanzora · Andalucía</a:t>
            </a:r>
            <a:endParaRPr lang="en-US" sz="1400"/>
          </a:p>
        </p:txBody>
      </p:sp>
      <p:sp>
        <p:nvSpPr>
          <p:cNvPr id="164663547" name="Text 9"/>
          <p:cNvSpPr/>
          <p:nvPr/>
        </p:nvSpPr>
        <p:spPr bwMode="auto">
          <a:xfrm>
            <a:off x="64008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i="1">
                <a:solidFill>
                  <a:srgbClr val="12A8A0"/>
                </a:solidFill>
                <a:latin typeface="Cambria"/>
                <a:ea typeface="Cambria"/>
                <a:cs typeface="Cambria"/>
              </a:rPr>
              <a:t>¡Buen curso!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5</cp:revision>
  <dcterms:created xsi:type="dcterms:W3CDTF">2026-09-11T16:22:21Z</dcterms:created>
  <dcterms:modified xsi:type="dcterms:W3CDTF">2026-09-11T17:04:44Z</dcterms:modified>
</cp:coreProperties>
</file>