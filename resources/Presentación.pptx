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4" d="100"/>
          <a:sy n="74" d="100"/>
        </p:scale>
        <p:origin x="1013" y="5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2002504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68687934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07575B3-FE26-481A-B2D0-C057FEFA05AA}" type="datetimeFigureOut">
              <a:rPr lang="es-ES"/>
              <a:t>17/09/2024</a:t>
            </a:fld>
            <a:endParaRPr lang="es-ES"/>
          </a:p>
        </p:txBody>
      </p:sp>
      <p:sp>
        <p:nvSpPr>
          <p:cNvPr id="1950259016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467025079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813373680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050720118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2D4D885-0C3B-4C55-82CC-B478B43CAE01}" type="slidenum">
              <a:rPr lang="es-ES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7974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4253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972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422B7C-025E-ABF8-61C9-ADF609E8AC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84148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8429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8215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AFE7B-F37E-AF50-81C4-7DF54F25FE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8620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03468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188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CE7563-3720-A007-C3D0-9B402DD42E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1260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11767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870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A1923-459C-4317-54A4-E58447D0DD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466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22953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3365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EDA329-D418-A795-1EE7-EAE2DA4EA6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637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85159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9533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38595-0389-4E69-9E22-684672CABE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0212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59096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099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87D3B5-E030-FF25-DE74-88FC0E9C39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86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178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0357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2CEC2D-ABE8-6760-0858-4324A7ABED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Diapositiva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7549104" name="Rectangle 6"/>
          <p:cNvSpPr/>
          <p:nvPr/>
        </p:nvSpPr>
        <p:spPr bwMode="auto"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4429946" name="Rectangle 7"/>
          <p:cNvSpPr/>
          <p:nvPr/>
        </p:nvSpPr>
        <p:spPr bwMode="auto"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2095271" name="Title 1"/>
          <p:cNvSpPr>
            <a:spLocks noGrp="1"/>
          </p:cNvSpPr>
          <p:nvPr>
            <p:ph type="ctrTitle"/>
          </p:nvPr>
        </p:nvSpPr>
        <p:spPr bwMode="auto"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371245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>
              <a:defRPr/>
            </a:pPr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5367716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09080A-C8CD-4B1B-9301-6A1A4AB304A6}" type="datetimeFigureOut">
              <a:rPr lang="es-ES"/>
              <a:t>17/09/2024</a:t>
            </a:fld>
            <a:endParaRPr lang="es-ES"/>
          </a:p>
        </p:txBody>
      </p:sp>
      <p:sp>
        <p:nvSpPr>
          <p:cNvPr id="8301173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443792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253803-212D-476E-9B91-736135F924B0}" type="slidenum">
              <a:rPr lang="es-ES"/>
              <a:t>‹Nº›</a:t>
            </a:fld>
            <a:endParaRPr lang="es-ES"/>
          </a:p>
        </p:txBody>
      </p:sp>
      <p:cxnSp>
        <p:nvCxnSpPr>
          <p:cNvPr id="670773110" name="Straight Connector 8"/>
          <p:cNvCxnSpPr/>
          <p:nvPr/>
        </p:nvCxnSpPr>
        <p:spPr bwMode="auto"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y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008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marL="0">
              <a:defRPr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90625928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19251257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09080A-C8CD-4B1B-9301-6A1A4AB304A6}" type="datetimeFigureOut">
              <a:rPr lang="es-ES"/>
              <a:t>17/09/2024</a:t>
            </a:fld>
            <a:endParaRPr lang="es-ES"/>
          </a:p>
        </p:txBody>
      </p:sp>
      <p:sp>
        <p:nvSpPr>
          <p:cNvPr id="7614538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781164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253803-212D-476E-9B91-736135F924B0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Encabezado de sección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494114" name="Rectangle 6"/>
          <p:cNvSpPr/>
          <p:nvPr/>
        </p:nvSpPr>
        <p:spPr bwMode="auto"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00181" name="Rectangle 7"/>
          <p:cNvSpPr/>
          <p:nvPr/>
        </p:nvSpPr>
        <p:spPr bwMode="auto"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5621639" name="Title 1"/>
          <p:cNvSpPr>
            <a:spLocks noGrp="1"/>
          </p:cNvSpPr>
          <p:nvPr>
            <p:ph type="title"/>
          </p:nvPr>
        </p:nvSpPr>
        <p:spPr bwMode="auto"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20798173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31216818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09080A-C8CD-4B1B-9301-6A1A4AB304A6}" type="datetimeFigureOut">
              <a:rPr lang="es-ES"/>
              <a:t>17/09/2024</a:t>
            </a:fld>
            <a:endParaRPr lang="es-ES"/>
          </a:p>
        </p:txBody>
      </p:sp>
      <p:sp>
        <p:nvSpPr>
          <p:cNvPr id="18943190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1575072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253803-212D-476E-9B91-736135F924B0}" type="slidenum">
              <a:rPr lang="es-ES"/>
              <a:t>‹Nº›</a:t>
            </a:fld>
            <a:endParaRPr lang="es-ES"/>
          </a:p>
        </p:txBody>
      </p:sp>
      <p:cxnSp>
        <p:nvCxnSpPr>
          <p:cNvPr id="643369421" name="Straight Connector 8"/>
          <p:cNvCxnSpPr/>
          <p:nvPr/>
        </p:nvCxnSpPr>
        <p:spPr bwMode="auto"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os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720044" name="Title 7"/>
          <p:cNvSpPr>
            <a:spLocks noGrp="1"/>
          </p:cNvSpPr>
          <p:nvPr>
            <p:ph type="title"/>
          </p:nvPr>
        </p:nvSpPr>
        <p:spPr bwMode="auto">
          <a:xfrm>
            <a:off x="1097280" y="286603"/>
            <a:ext cx="10058400" cy="1450757"/>
          </a:xfrm>
        </p:spPr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66663674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097279" y="1845734"/>
            <a:ext cx="4937760" cy="4023360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190544019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17920" y="1845735"/>
            <a:ext cx="4937760" cy="4023360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158441091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09080A-C8CD-4B1B-9301-6A1A4AB304A6}" type="datetimeFigureOut">
              <a:rPr lang="es-ES"/>
              <a:t>17/09/2024</a:t>
            </a:fld>
            <a:endParaRPr lang="es-ES"/>
          </a:p>
        </p:txBody>
      </p:sp>
      <p:sp>
        <p:nvSpPr>
          <p:cNvPr id="5623066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3201351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253803-212D-476E-9B91-736135F924B0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748074" name="Title 9"/>
          <p:cNvSpPr>
            <a:spLocks noGrp="1"/>
          </p:cNvSpPr>
          <p:nvPr>
            <p:ph type="title"/>
          </p:nvPr>
        </p:nvSpPr>
        <p:spPr bwMode="auto">
          <a:xfrm>
            <a:off x="1097280" y="286603"/>
            <a:ext cx="10058400" cy="1450757"/>
          </a:xfrm>
        </p:spPr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1574022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35911526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097280" y="2582334"/>
            <a:ext cx="4937760" cy="3378200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56071944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190361781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217920" y="2582334"/>
            <a:ext cx="4937760" cy="3378200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198827903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09080A-C8CD-4B1B-9301-6A1A4AB304A6}" type="datetimeFigureOut">
              <a:rPr lang="es-ES"/>
              <a:t>17/09/2024</a:t>
            </a:fld>
            <a:endParaRPr lang="es-ES"/>
          </a:p>
        </p:txBody>
      </p:sp>
      <p:sp>
        <p:nvSpPr>
          <p:cNvPr id="103260164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0757535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253803-212D-476E-9B91-736135F924B0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lo el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385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243706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09080A-C8CD-4B1B-9301-6A1A4AB304A6}" type="datetimeFigureOut">
              <a:rPr lang="es-ES"/>
              <a:t>17/09/2024</a:t>
            </a:fld>
            <a:endParaRPr lang="es-ES"/>
          </a:p>
        </p:txBody>
      </p:sp>
      <p:sp>
        <p:nvSpPr>
          <p:cNvPr id="14508007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97631633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253803-212D-476E-9B91-736135F924B0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blank" userDrawn="1">
  <p:cSld name="En bl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108959" name="Rectangle 4"/>
          <p:cNvSpPr/>
          <p:nvPr/>
        </p:nvSpPr>
        <p:spPr bwMode="auto"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7493343" name="Rectangle 5"/>
          <p:cNvSpPr/>
          <p:nvPr/>
        </p:nvSpPr>
        <p:spPr bwMode="auto"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9827070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09080A-C8CD-4B1B-9301-6A1A4AB304A6}" type="datetimeFigureOut">
              <a:rPr lang="es-ES"/>
              <a:t>17/09/2024</a:t>
            </a:fld>
            <a:endParaRPr lang="es-ES"/>
          </a:p>
        </p:txBody>
      </p:sp>
      <p:sp>
        <p:nvSpPr>
          <p:cNvPr id="23367036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34171627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253803-212D-476E-9B91-736135F924B0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Tx" userDrawn="1">
  <p:cSld name="Contenido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746996" name="Rectangle 7"/>
          <p:cNvSpPr/>
          <p:nvPr/>
        </p:nvSpPr>
        <p:spPr bwMode="auto"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06763514" name="Rectangle 8"/>
          <p:cNvSpPr/>
          <p:nvPr/>
        </p:nvSpPr>
        <p:spPr bwMode="auto"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0858588" name="Title 1"/>
          <p:cNvSpPr>
            <a:spLocks noGrp="1"/>
          </p:cNvSpPr>
          <p:nvPr>
            <p:ph type="title"/>
          </p:nvPr>
        </p:nvSpPr>
        <p:spPr bwMode="auto">
          <a:xfrm>
            <a:off x="457200" y="594358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833735471" name="Content Placeholder 2"/>
          <p:cNvSpPr>
            <a:spLocks noGrp="1"/>
          </p:cNvSpPr>
          <p:nvPr>
            <p:ph idx="1"/>
          </p:nvPr>
        </p:nvSpPr>
        <p:spPr bwMode="auto">
          <a:xfrm>
            <a:off x="4800600" y="731520"/>
            <a:ext cx="6492240" cy="5257800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103438260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255123036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65512" y="6459785"/>
            <a:ext cx="2618509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609080A-C8CD-4B1B-9301-6A1A4AB304A6}" type="datetimeFigureOut">
              <a:rPr lang="es-ES"/>
              <a:t>17/09/2024</a:t>
            </a:fld>
            <a:endParaRPr lang="es-ES"/>
          </a:p>
        </p:txBody>
      </p:sp>
      <p:sp>
        <p:nvSpPr>
          <p:cNvPr id="56841109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07458357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4253803-212D-476E-9B91-736135F924B0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picTx" userDrawn="1">
  <p:cSld name="Imagen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936597" name="Rectangle 7"/>
          <p:cNvSpPr/>
          <p:nvPr/>
        </p:nvSpPr>
        <p:spPr bwMode="auto"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7657955" name="Rectangle 8"/>
          <p:cNvSpPr/>
          <p:nvPr/>
        </p:nvSpPr>
        <p:spPr bwMode="auto"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1509770" name="Title 1"/>
          <p:cNvSpPr>
            <a:spLocks noGrp="1"/>
          </p:cNvSpPr>
          <p:nvPr>
            <p:ph type="title"/>
          </p:nvPr>
        </p:nvSpPr>
        <p:spPr bwMode="auto"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68331210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15" y="0"/>
            <a:ext cx="12191985" cy="4915076"/>
          </a:xfrm>
          <a:prstGeom prst="rect">
            <a:avLst/>
          </a:prstGeom>
          <a:blipFill rotWithShape="1">
            <a:blip r:embed="rId2"/>
            <a:stretch/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06869450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195286930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09080A-C8CD-4B1B-9301-6A1A4AB304A6}" type="datetimeFigureOut">
              <a:rPr lang="es-ES"/>
              <a:t>17/09/2024</a:t>
            </a:fld>
            <a:endParaRPr lang="es-ES"/>
          </a:p>
        </p:txBody>
      </p:sp>
      <p:sp>
        <p:nvSpPr>
          <p:cNvPr id="29656635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89511630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253803-212D-476E-9B91-736135F924B0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y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10437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28784124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lIns="45720" tIns="0" rIns="45720" bIns="0"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44771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09080A-C8CD-4B1B-9301-6A1A4AB304A6}" type="datetimeFigureOut">
              <a:rPr lang="es-ES"/>
              <a:t>17/09/2024</a:t>
            </a:fld>
            <a:endParaRPr lang="es-ES"/>
          </a:p>
        </p:txBody>
      </p:sp>
      <p:sp>
        <p:nvSpPr>
          <p:cNvPr id="21274571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044136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253803-212D-476E-9B91-736135F924B0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vertTitleAndTx" userDrawn="1">
  <p:cSld name="Título vertical y tex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009766" name="Rectangle 6"/>
          <p:cNvSpPr/>
          <p:nvPr/>
        </p:nvSpPr>
        <p:spPr bwMode="auto"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80292183" name="Rectangle 7"/>
          <p:cNvSpPr/>
          <p:nvPr/>
        </p:nvSpPr>
        <p:spPr bwMode="auto"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6070822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414778"/>
            <a:ext cx="2628900" cy="5757421"/>
          </a:xfrm>
        </p:spPr>
        <p:txBody>
          <a:bodyPr vert="eaVert"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69650780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9815449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09080A-C8CD-4B1B-9301-6A1A4AB304A6}" type="datetimeFigureOut">
              <a:rPr lang="es-ES"/>
              <a:t>17/09/2024</a:t>
            </a:fld>
            <a:endParaRPr lang="es-ES"/>
          </a:p>
        </p:txBody>
      </p:sp>
      <p:sp>
        <p:nvSpPr>
          <p:cNvPr id="2769385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3092256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253803-212D-476E-9B91-736135F924B0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549892" name="Rectangle 6"/>
          <p:cNvSpPr/>
          <p:nvPr/>
        </p:nvSpPr>
        <p:spPr bwMode="auto"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43317400" name="Rectangle 8"/>
          <p:cNvSpPr/>
          <p:nvPr/>
        </p:nvSpPr>
        <p:spPr bwMode="auto"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23737113" name="Title Placeholder 1"/>
          <p:cNvSpPr>
            <a:spLocks noGrp="1"/>
          </p:cNvSpPr>
          <p:nvPr>
            <p:ph type="title"/>
          </p:nvPr>
        </p:nvSpPr>
        <p:spPr bwMode="auto"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21095717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43563632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609080A-C8CD-4B1B-9301-6A1A4AB304A6}" type="datetimeFigureOut">
              <a:rPr lang="es-ES"/>
              <a:t>17/09/2024</a:t>
            </a:fld>
            <a:endParaRPr lang="es-ES"/>
          </a:p>
        </p:txBody>
      </p:sp>
      <p:sp>
        <p:nvSpPr>
          <p:cNvPr id="53782023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686185" y="6459785"/>
            <a:ext cx="4822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31940813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C4253803-212D-476E-9B91-736135F924B0}" type="slidenum">
              <a:rPr lang="es-ES"/>
              <a:t>‹Nº›</a:t>
            </a:fld>
            <a:endParaRPr lang="es-ES"/>
          </a:p>
        </p:txBody>
      </p:sp>
      <p:cxnSp>
        <p:nvCxnSpPr>
          <p:cNvPr id="383868841" name="Straight Connector 9"/>
          <p:cNvCxnSpPr/>
          <p:nvPr/>
        </p:nvCxnSpPr>
        <p:spPr bwMode="auto"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85000"/>
        </a:lnSpc>
        <a:spcBef>
          <a:spcPts val="0"/>
        </a:spcBef>
        <a:buNone/>
        <a:defRPr sz="4800" spc="-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/>
        <a:buChar char=" 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jguiben709/Programacion_26-27" TargetMode="External"/><Relationship Id="rId4" Type="http://schemas.openxmlformats.org/officeDocument/2006/relationships/hyperlink" Target="https://docs.oracle.com/javase/8/docs/api/" TargetMode="External"/><Relationship Id="rId5" Type="http://schemas.openxmlformats.org/officeDocument/2006/relationships/hyperlink" Target="https://docs.oracle.com/en/java/javase/26/" TargetMode="External"/><Relationship Id="rId6" Type="http://schemas.openxmlformats.org/officeDocument/2006/relationships/hyperlink" Target="https://docs.oracle.com/en/java/javase/26/docs/api/index.html" TargetMode="External"/><Relationship Id="rId7" Type="http://schemas.openxmlformats.org/officeDocument/2006/relationships/hyperlink" Target="https://www.youtube.com/watch?v=coK4jM5wvko&amp;list=PLU8oAlHdN5BktAXdEVCLUYzvDyqRQJ2lk" TargetMode="Externa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education.oracle.com/java-foundations-certified-junior-associate/trackp_372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mailto:jjavierguillen@gmail.com" TargetMode="External"/><Relationship Id="rId4" Type="http://schemas.openxmlformats.org/officeDocument/2006/relationships/hyperlink" Target="https://github.com/jjguillen" TargetMode="External"/><Relationship Id="rId5" Type="http://schemas.openxmlformats.org/officeDocument/2006/relationships/hyperlink" Target="https://educacionadistancia.juntadeandalucia.es/centros/almeria/course/view.php?id=4562" TargetMode="Externa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476362" name="Título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Programación – 1º DAW</a:t>
            </a:r>
            <a:endParaRPr/>
          </a:p>
        </p:txBody>
      </p:sp>
      <p:sp>
        <p:nvSpPr>
          <p:cNvPr id="656118476" name="Subtítulo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IES JAROSO 2026-2027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692133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Secuenciación</a:t>
            </a:r>
            <a:endParaRPr lang="es-ES"/>
          </a:p>
        </p:txBody>
      </p:sp>
      <p:sp>
        <p:nvSpPr>
          <p:cNvPr id="1453049534" name="Marcador de contenido 2"/>
          <p:cNvSpPr>
            <a:spLocks noGrp="1"/>
          </p:cNvSpPr>
          <p:nvPr>
            <p:ph idx="1"/>
          </p:nvPr>
        </p:nvSpPr>
        <p:spPr bwMode="auto">
          <a:xfrm>
            <a:off x="1097280" y="1845733"/>
            <a:ext cx="10058400" cy="4601719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s-ES" b="0" i="0">
                <a:solidFill>
                  <a:srgbClr val="191919"/>
                </a:solidFill>
                <a:latin typeface="Lato"/>
              </a:rPr>
              <a:t>Tema 0 – Introducción a la programación</a:t>
            </a:r>
            <a:endParaRPr/>
          </a:p>
          <a:p>
            <a:pPr algn="l"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Tema 1 – Introducción a Java</a:t>
            </a:r>
            <a:endParaRPr/>
          </a:p>
          <a:p>
            <a:pPr algn="l">
              <a:defRPr/>
            </a:pPr>
            <a:r>
              <a:rPr lang="es-ES" b="0" i="0">
                <a:solidFill>
                  <a:srgbClr val="191919"/>
                </a:solidFill>
                <a:latin typeface="Lato"/>
              </a:rPr>
              <a:t>Tema 2 – Estructuras básicas de control</a:t>
            </a:r>
            <a:endParaRPr/>
          </a:p>
          <a:p>
            <a:pPr algn="l"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Tema 3 – Estructuras de almacenamiento</a:t>
            </a:r>
            <a:endParaRPr/>
          </a:p>
          <a:p>
            <a:pPr algn="l">
              <a:defRPr/>
            </a:pPr>
            <a:r>
              <a:rPr lang="es-ES" b="0" i="0">
                <a:solidFill>
                  <a:srgbClr val="191919"/>
                </a:solidFill>
                <a:latin typeface="Lato"/>
              </a:rPr>
              <a:t>Tema 4 – Programación orientada a objetos. OBJETOS</a:t>
            </a:r>
            <a:endParaRPr/>
          </a:p>
          <a:p>
            <a:pPr algn="l"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Tema 5 – Programación orientada a objetos. CLASES</a:t>
            </a:r>
            <a:endParaRPr/>
          </a:p>
          <a:p>
            <a:pPr algn="l"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Tema 6 – Programación orientada a objetos. Utilización avanzada de clases.</a:t>
            </a:r>
            <a:endParaRPr/>
          </a:p>
          <a:p>
            <a:pPr algn="l"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Tema 7 – Lectura y escritura de información. Streams y ficheros.</a:t>
            </a:r>
            <a:endParaRPr/>
          </a:p>
          <a:p>
            <a:pPr algn="l"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Tema 8 – Bases de datos relacionales y </a:t>
            </a:r>
            <a:r>
              <a:rPr lang="es-ES" i="1">
                <a:solidFill>
                  <a:srgbClr val="191919"/>
                </a:solidFill>
                <a:latin typeface="Lato"/>
              </a:rPr>
              <a:t>persistencia de objetos</a:t>
            </a:r>
            <a:endParaRPr/>
          </a:p>
          <a:p>
            <a:pPr algn="l"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Tema 9 – GUI (Java FX) </a:t>
            </a:r>
            <a:endParaRPr/>
          </a:p>
          <a:p>
            <a:pPr algn="l">
              <a:defRPr/>
            </a:pPr>
            <a:endParaRPr lang="es-ES" sz="2800" b="0" i="0">
              <a:solidFill>
                <a:srgbClr val="191919"/>
              </a:solidFill>
              <a:latin typeface="Lato"/>
            </a:endParaRPr>
          </a:p>
          <a:p>
            <a:pPr>
              <a:defRPr/>
            </a:pP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869201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Temporalización</a:t>
            </a:r>
            <a:endParaRPr lang="es-ES"/>
          </a:p>
        </p:txBody>
      </p:sp>
      <p:sp>
        <p:nvSpPr>
          <p:cNvPr id="500564933" name="Marcador de contenido 2"/>
          <p:cNvSpPr>
            <a:spLocks noGrp="1"/>
          </p:cNvSpPr>
          <p:nvPr>
            <p:ph idx="1"/>
          </p:nvPr>
        </p:nvSpPr>
        <p:spPr bwMode="auto">
          <a:xfrm>
            <a:off x="1097280" y="1845733"/>
            <a:ext cx="10058400" cy="46017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/>
              <a:buChar char="q"/>
              <a:defRPr/>
            </a:pPr>
            <a:r>
              <a:rPr lang="es-ES" sz="2800" b="0" i="0">
                <a:solidFill>
                  <a:srgbClr val="191919"/>
                </a:solidFill>
                <a:latin typeface="Lato"/>
              </a:rPr>
              <a:t> Primer trimestre</a:t>
            </a:r>
            <a:endParaRPr/>
          </a:p>
          <a:p>
            <a:pPr lvl="1">
              <a:lnSpc>
                <a:spcPct val="150000"/>
              </a:lnSpc>
              <a:buFont typeface="Arial"/>
              <a:buChar char="•"/>
              <a:defRPr/>
            </a:pPr>
            <a:r>
              <a:rPr lang="es-ES" sz="2400">
                <a:solidFill>
                  <a:srgbClr val="191919"/>
                </a:solidFill>
                <a:latin typeface="Lato"/>
              </a:rPr>
              <a:t>Temas 0, 1, 2, 3</a:t>
            </a:r>
            <a:endParaRPr lang="es-ES" sz="2400" b="0" i="0">
              <a:solidFill>
                <a:srgbClr val="191919"/>
              </a:solidFill>
              <a:latin typeface="Lato"/>
            </a:endParaRPr>
          </a:p>
          <a:p>
            <a:pPr>
              <a:lnSpc>
                <a:spcPct val="150000"/>
              </a:lnSpc>
              <a:buFont typeface="Wingdings"/>
              <a:buChar char="q"/>
              <a:defRPr/>
            </a:pPr>
            <a:r>
              <a:rPr lang="es-ES" sz="2800">
                <a:solidFill>
                  <a:srgbClr val="191919"/>
                </a:solidFill>
                <a:latin typeface="Lato"/>
              </a:rPr>
              <a:t> Segundo trimestre</a:t>
            </a:r>
            <a:endParaRPr/>
          </a:p>
          <a:p>
            <a:pPr lvl="1">
              <a:lnSpc>
                <a:spcPct val="150000"/>
              </a:lnSpc>
              <a:buFont typeface="Arial"/>
              <a:buChar char="•"/>
              <a:defRPr/>
            </a:pPr>
            <a:r>
              <a:rPr lang="es-ES" sz="2400">
                <a:solidFill>
                  <a:srgbClr val="191919"/>
                </a:solidFill>
                <a:latin typeface="Lato"/>
              </a:rPr>
              <a:t>Temas 4, 5, 6</a:t>
            </a:r>
            <a:endParaRPr/>
          </a:p>
          <a:p>
            <a:pPr>
              <a:lnSpc>
                <a:spcPct val="150000"/>
              </a:lnSpc>
              <a:buFont typeface="Wingdings"/>
              <a:buChar char="q"/>
              <a:defRPr/>
            </a:pPr>
            <a:r>
              <a:rPr lang="es-ES" sz="2800">
                <a:solidFill>
                  <a:srgbClr val="191919"/>
                </a:solidFill>
                <a:latin typeface="Lato"/>
              </a:rPr>
              <a:t> Tercer trimestre</a:t>
            </a:r>
            <a:endParaRPr/>
          </a:p>
          <a:p>
            <a:pPr lvl="1">
              <a:lnSpc>
                <a:spcPct val="150000"/>
              </a:lnSpc>
              <a:buFont typeface="Arial"/>
              <a:buChar char="•"/>
              <a:defRPr/>
            </a:pPr>
            <a:r>
              <a:rPr lang="es-ES" sz="2400">
                <a:solidFill>
                  <a:srgbClr val="191919"/>
                </a:solidFill>
                <a:latin typeface="Lato"/>
              </a:rPr>
              <a:t>Temas 7, 8, 9</a:t>
            </a:r>
            <a:endParaRPr/>
          </a:p>
          <a:p>
            <a:pPr algn="l">
              <a:defRPr/>
            </a:pPr>
            <a:endParaRPr lang="es-ES" sz="2800" b="0" i="0">
              <a:solidFill>
                <a:srgbClr val="191919"/>
              </a:solidFill>
              <a:latin typeface="Lato"/>
            </a:endParaRPr>
          </a:p>
          <a:p>
            <a:pPr>
              <a:defRPr/>
            </a:pP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626876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Evaluación</a:t>
            </a:r>
            <a:endParaRPr lang="es-ES"/>
          </a:p>
        </p:txBody>
      </p:sp>
      <p:sp>
        <p:nvSpPr>
          <p:cNvPr id="1173885207" name="Marcador de contenido 2"/>
          <p:cNvSpPr>
            <a:spLocks noGrp="1"/>
          </p:cNvSpPr>
          <p:nvPr>
            <p:ph idx="1"/>
          </p:nvPr>
        </p:nvSpPr>
        <p:spPr bwMode="auto">
          <a:xfrm>
            <a:off x="1097280" y="1845733"/>
            <a:ext cx="10058400" cy="4601719"/>
          </a:xfrm>
        </p:spPr>
        <p:txBody>
          <a:bodyPr>
            <a:normAutofit/>
          </a:bodyPr>
          <a:lstStyle/>
          <a:p>
            <a:pPr algn="l">
              <a:buFont typeface="Wingdings"/>
              <a:buChar char="q"/>
              <a:defRPr/>
            </a:pPr>
            <a:r>
              <a:rPr lang="es-ES" b="0" i="0">
                <a:solidFill>
                  <a:srgbClr val="191919"/>
                </a:solidFill>
                <a:latin typeface="Lato"/>
              </a:rPr>
              <a:t> Porcentajes de calificación:</a:t>
            </a:r>
            <a:endParaRPr/>
          </a:p>
          <a:p>
            <a:pPr marL="0" indent="0" algn="l">
              <a:buNone/>
              <a:defRPr/>
            </a:pPr>
            <a:r>
              <a:rPr lang="es-ES" b="0" i="0">
                <a:solidFill>
                  <a:srgbClr val="191919"/>
                </a:solidFill>
                <a:latin typeface="Lato"/>
              </a:rPr>
              <a:t>	</a:t>
            </a:r>
            <a:r>
              <a:rPr lang="es-ES" b="1">
                <a:solidFill>
                  <a:srgbClr val="191919"/>
                </a:solidFill>
                <a:latin typeface="Lato"/>
              </a:rPr>
              <a:t>70</a:t>
            </a:r>
            <a:r>
              <a:rPr lang="es-ES" b="1" i="0">
                <a:solidFill>
                  <a:srgbClr val="191919"/>
                </a:solidFill>
                <a:latin typeface="Lato"/>
              </a:rPr>
              <a:t> %</a:t>
            </a:r>
            <a:r>
              <a:rPr lang="es-ES" b="0" i="0">
                <a:solidFill>
                  <a:srgbClr val="191919"/>
                </a:solidFill>
                <a:latin typeface="Lato"/>
              </a:rPr>
              <a:t> Pruebas escritas práctica</a:t>
            </a:r>
            <a:r>
              <a:rPr lang="es-ES"/>
              <a:t>s</a:t>
            </a:r>
            <a:endParaRPr/>
          </a:p>
          <a:p>
            <a:pPr marL="0" indent="0" algn="l">
              <a:buNone/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	</a:t>
            </a:r>
            <a:r>
              <a:rPr lang="es-ES" b="1">
                <a:solidFill>
                  <a:srgbClr val="191919"/>
                </a:solidFill>
                <a:latin typeface="Lato"/>
              </a:rPr>
              <a:t>30 %</a:t>
            </a:r>
            <a:r>
              <a:rPr lang="es-ES">
                <a:solidFill>
                  <a:srgbClr val="191919"/>
                </a:solidFill>
                <a:latin typeface="Lato"/>
              </a:rPr>
              <a:t> Trabajo individual y grupal en clase</a:t>
            </a:r>
            <a:endParaRPr/>
          </a:p>
          <a:p>
            <a:pPr>
              <a:buFont typeface="Wingdings"/>
              <a:buChar char="q"/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 Sólo una prueba escrita por trimestre, no hay recuperación. Se harán prácticas de clase evaluables durante cada trimestre. No habrá trabajo para casa, solo prácticas y ejercicios propuestos para afianzar los contenidos. </a:t>
            </a:r>
            <a:endParaRPr lang="es-ES">
              <a:solidFill>
                <a:srgbClr val="191919"/>
              </a:solidFill>
              <a:latin typeface="Lato"/>
            </a:endParaRPr>
          </a:p>
          <a:p>
            <a:pPr>
              <a:buFont typeface="Wingdings"/>
              <a:buChar char="q"/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 La programación se evalúa de forma continua.</a:t>
            </a:r>
            <a:endParaRPr/>
          </a:p>
          <a:p>
            <a:pPr algn="l">
              <a:buFont typeface="Wingdings"/>
              <a:buChar char="q"/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 En las pruebas escritas y prácticas de clase evaluables no se podrá utilizar IA generativa (ChatGPT), su uso supondrá un cero en la prueba.</a:t>
            </a:r>
            <a:endParaRPr lang="es-ES">
              <a:solidFill>
                <a:srgbClr val="191919"/>
              </a:solidFill>
              <a:latin typeface="Lato"/>
            </a:endParaRPr>
          </a:p>
          <a:p>
            <a:pPr algn="l">
              <a:buFont typeface="Wingdings"/>
              <a:buChar char="q"/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 En casa se puede usar IA generativa, como ayuda, profesor, explicación, etc.</a:t>
            </a:r>
            <a:endParaRPr/>
          </a:p>
          <a:p>
            <a:pPr algn="l">
              <a:buFont typeface="Wingdings"/>
              <a:buChar char="q"/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 Se perderá la evaluación continua con más del 20% de faltas injustificadas.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39821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Materiales</a:t>
            </a:r>
            <a:endParaRPr lang="es-ES"/>
          </a:p>
        </p:txBody>
      </p:sp>
      <p:sp>
        <p:nvSpPr>
          <p:cNvPr id="989383847" name="Marcador de contenido 2"/>
          <p:cNvSpPr>
            <a:spLocks noGrp="1"/>
          </p:cNvSpPr>
          <p:nvPr>
            <p:ph idx="1"/>
          </p:nvPr>
        </p:nvSpPr>
        <p:spPr bwMode="auto">
          <a:xfrm>
            <a:off x="1097280" y="1845733"/>
            <a:ext cx="10058400" cy="4601719"/>
          </a:xfrm>
        </p:spPr>
        <p:txBody>
          <a:bodyPr vertOverflow="overflow" horzOverflow="overflow" vert="horz" wrap="square" lIns="0" tIns="45720" rIns="0" bIns="45720" numCol="1" spcCol="0" rtlCol="0" fromWordArt="0" anchor="t" anchorCtr="0" forceAA="0" upright="0" compatLnSpc="0">
            <a:normAutofit/>
          </a:bodyPr>
          <a:lstStyle/>
          <a:p>
            <a:pPr algn="l">
              <a:buFont typeface="Wingdings"/>
              <a:buChar char="q"/>
              <a:defRPr/>
            </a:pPr>
            <a:r>
              <a:rPr lang="es-ES" b="0" i="0">
                <a:solidFill>
                  <a:srgbClr val="191919"/>
                </a:solidFill>
                <a:latin typeface="Lato"/>
              </a:rPr>
              <a:t> Entornos de desarrollo o </a:t>
            </a:r>
            <a:r>
              <a:rPr lang="es-ES" b="1" i="0">
                <a:solidFill>
                  <a:srgbClr val="191919"/>
                </a:solidFill>
                <a:latin typeface="Lato"/>
              </a:rPr>
              <a:t>IDEs</a:t>
            </a:r>
            <a:r>
              <a:rPr lang="es-ES" b="0" i="0">
                <a:solidFill>
                  <a:srgbClr val="191919"/>
                </a:solidFill>
                <a:latin typeface="Lato"/>
              </a:rPr>
              <a:t>:</a:t>
            </a:r>
            <a:endParaRPr/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  <a:defRPr/>
            </a:pPr>
            <a:r>
              <a:rPr lang="es-ES" b="0">
                <a:solidFill>
                  <a:srgbClr val="191919"/>
                </a:solidFill>
                <a:latin typeface="Lato"/>
              </a:rPr>
              <a:t>	</a:t>
            </a:r>
            <a:r>
              <a:rPr lang="es-ES" b="1">
                <a:solidFill>
                  <a:schemeClr val="bg2">
                    <a:lumMod val="50000"/>
                  </a:schemeClr>
                </a:solidFill>
                <a:latin typeface="Lato"/>
              </a:rPr>
              <a:t>IntelliJ Idea</a:t>
            </a:r>
            <a:r>
              <a:rPr lang="es-ES" b="0">
                <a:solidFill>
                  <a:srgbClr val="191919"/>
                </a:solidFill>
                <a:latin typeface="Lato"/>
              </a:rPr>
              <a:t>: para el resto. Se usará JDK 8 y JDK 24</a:t>
            </a:r>
            <a:endParaRPr lang="es-ES">
              <a:solidFill>
                <a:srgbClr val="191919"/>
              </a:solidFill>
              <a:latin typeface="Lato"/>
            </a:endParaRPr>
          </a:p>
          <a:p>
            <a:pPr algn="l">
              <a:buFont typeface="Wingdings"/>
              <a:buChar char="q"/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 </a:t>
            </a:r>
            <a:r>
              <a:rPr lang="es-ES" b="1">
                <a:solidFill>
                  <a:srgbClr val="191919"/>
                </a:solidFill>
                <a:latin typeface="Lato"/>
              </a:rPr>
              <a:t>Apuntes</a:t>
            </a:r>
            <a:r>
              <a:rPr lang="es-ES">
                <a:solidFill>
                  <a:srgbClr val="191919"/>
                </a:solidFill>
                <a:latin typeface="Lato"/>
              </a:rPr>
              <a:t>: se subirán las diapositivas de clase a la plataforma “Moodle Centros”, donde también estarán las prácticas propuestas y todo lo necesario para realizarlas.</a:t>
            </a:r>
            <a:endParaRPr/>
          </a:p>
          <a:p>
            <a:pPr algn="l">
              <a:buFont typeface="Wingdings"/>
              <a:buChar char="q"/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 Repositorio </a:t>
            </a:r>
            <a:r>
              <a:rPr lang="es-ES" b="1">
                <a:solidFill>
                  <a:srgbClr val="191919"/>
                </a:solidFill>
                <a:latin typeface="Lato"/>
              </a:rPr>
              <a:t>Github</a:t>
            </a:r>
            <a:r>
              <a:rPr lang="es-ES">
                <a:solidFill>
                  <a:srgbClr val="191919"/>
                </a:solidFill>
                <a:latin typeface="Lato"/>
              </a:rPr>
              <a:t> (</a:t>
            </a:r>
            <a:r>
              <a:rPr lang="es-ES" u="sng">
                <a:solidFill>
                  <a:srgbClr val="191919"/>
                </a:solidFill>
                <a:latin typeface="Lato"/>
                <a:hlinkClick r:id="rId3" tooltip=""/>
              </a:rPr>
              <a:t>https://github.com/jguiben709/Programacion_26-27</a:t>
            </a:r>
            <a:r>
              <a:rPr lang="es-ES">
                <a:solidFill>
                  <a:srgbClr val="191919"/>
                </a:solidFill>
                <a:latin typeface="Lato"/>
              </a:rPr>
              <a:t>) donde aparecerán todos los ejercicios resueltos durante el curso (ejemplos y prácticas). </a:t>
            </a:r>
            <a:endParaRPr/>
          </a:p>
          <a:p>
            <a:pPr algn="l">
              <a:buFont typeface="Wingdings"/>
              <a:buChar char="q"/>
              <a:defRPr/>
            </a:pPr>
            <a:r>
              <a:rPr lang="es-ES"/>
              <a:t> API de Java 8: </a:t>
            </a:r>
            <a:r>
              <a:rPr lang="es-ES" u="sng">
                <a:hlinkClick r:id="rId4" tooltip=""/>
              </a:rPr>
              <a:t>https://docs.oracle.com/javase/8/docs/api/</a:t>
            </a:r>
            <a:endParaRPr/>
          </a:p>
          <a:p>
            <a:pPr algn="l">
              <a:buFont typeface="Wingdings"/>
              <a:buChar char="q"/>
              <a:defRPr/>
            </a:pPr>
            <a:r>
              <a:rPr lang="es-ES"/>
              <a:t> JDK 26: </a:t>
            </a:r>
            <a:r>
              <a:rPr lang="es-ES" sz="1900" b="0" i="0" u="sng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hlinkClick r:id="rId5" tooltip=""/>
              </a:rPr>
              <a:t>https://docs.oracle.com/en/java/javase/26/</a:t>
            </a:r>
            <a:r>
              <a:rPr lang="es-ES"/>
              <a:t>   API Documentation (</a:t>
            </a:r>
            <a:r>
              <a:rPr lang="es-ES" u="sng">
                <a:hlinkClick r:id="rId6" tooltip=""/>
              </a:rPr>
              <a:t>link</a:t>
            </a:r>
            <a:r>
              <a:rPr lang="es-ES"/>
              <a:t>)</a:t>
            </a:r>
            <a:endParaRPr lang="es-ES"/>
          </a:p>
          <a:p>
            <a:pPr algn="l">
              <a:buFont typeface="Wingdings"/>
              <a:buChar char="q"/>
              <a:defRPr/>
            </a:pPr>
            <a:r>
              <a:rPr lang="es-ES"/>
              <a:t> Bibliografía recomendada y recursos:</a:t>
            </a:r>
            <a:endParaRPr/>
          </a:p>
          <a:p>
            <a:pPr lvl="1">
              <a:buFont typeface="Arial"/>
              <a:buChar char="•"/>
              <a:defRPr/>
            </a:pPr>
            <a:r>
              <a:rPr lang="es-ES"/>
              <a:t>Curso Java Youtube: </a:t>
            </a:r>
            <a:r>
              <a:rPr lang="es-ES" u="sng">
                <a:hlinkClick r:id="rId7" tooltip=""/>
              </a:rPr>
              <a:t>link</a:t>
            </a:r>
            <a:endParaRPr lang="es-ES"/>
          </a:p>
          <a:p>
            <a:pPr lvl="1">
              <a:buFont typeface="Arial"/>
              <a:buChar char="•"/>
              <a:defRPr/>
            </a:pPr>
            <a:r>
              <a:rPr lang="es-ES"/>
              <a:t>Libros: Java para novatos, </a:t>
            </a:r>
            <a:r>
              <a:rPr lang="es-ES"/>
              <a:t>Thinking</a:t>
            </a:r>
            <a:r>
              <a:rPr lang="es-ES"/>
              <a:t> in Java, Java limpio, …</a:t>
            </a:r>
            <a:endParaRPr/>
          </a:p>
          <a:p>
            <a:pPr lvl="1">
              <a:buFont typeface="Arial"/>
              <a:buChar char="•"/>
              <a:defRPr/>
            </a:pP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344384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Certificación</a:t>
            </a:r>
            <a:endParaRPr lang="es-ES"/>
          </a:p>
        </p:txBody>
      </p:sp>
      <p:sp>
        <p:nvSpPr>
          <p:cNvPr id="1984940167" name="Marcador de contenido 2"/>
          <p:cNvSpPr>
            <a:spLocks noGrp="1"/>
          </p:cNvSpPr>
          <p:nvPr>
            <p:ph idx="1"/>
          </p:nvPr>
        </p:nvSpPr>
        <p:spPr bwMode="auto">
          <a:xfrm>
            <a:off x="1097280" y="1845733"/>
            <a:ext cx="10058400" cy="4601719"/>
          </a:xfrm>
        </p:spPr>
        <p:txBody>
          <a:bodyPr>
            <a:normAutofit/>
          </a:bodyPr>
          <a:lstStyle/>
          <a:p>
            <a:pPr algn="l">
              <a:buFont typeface="Wingdings"/>
              <a:buChar char="q"/>
              <a:defRPr/>
            </a:pPr>
            <a:r>
              <a:rPr lang="es-ES" b="0" i="0">
                <a:solidFill>
                  <a:srgbClr val="191919"/>
                </a:solidFill>
                <a:latin typeface="Lato"/>
              </a:rPr>
              <a:t> </a:t>
            </a:r>
            <a:r>
              <a:rPr lang="es-ES">
                <a:solidFill>
                  <a:srgbClr val="191919"/>
                </a:solidFill>
                <a:latin typeface="Lato"/>
              </a:rPr>
              <a:t>Una vez finalizado y aprobado el curso los alumnos pueden intentar pasar las certificaciones Java oficiales de Oracle.</a:t>
            </a:r>
            <a:endParaRPr/>
          </a:p>
          <a:p>
            <a:pPr algn="l">
              <a:buFont typeface="Wingdings"/>
              <a:buChar char="q"/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 </a:t>
            </a:r>
            <a:r>
              <a:rPr lang="es-ES" u="sng">
                <a:hlinkClick r:id="rId3" tooltip=""/>
              </a:rPr>
              <a:t>Oracle </a:t>
            </a:r>
            <a:r>
              <a:rPr lang="es-ES" u="sng">
                <a:hlinkClick r:id="rId3" tooltip=""/>
              </a:rPr>
              <a:t>Certified</a:t>
            </a:r>
            <a:r>
              <a:rPr lang="es-ES" u="sng">
                <a:hlinkClick r:id="rId3" tooltip=""/>
              </a:rPr>
              <a:t> </a:t>
            </a:r>
            <a:r>
              <a:rPr lang="es-ES" u="sng">
                <a:hlinkClick r:id="rId3" tooltip=""/>
              </a:rPr>
              <a:t>Foundations</a:t>
            </a:r>
            <a:r>
              <a:rPr lang="es-ES" u="sng">
                <a:hlinkClick r:id="rId3" tooltip=""/>
              </a:rPr>
              <a:t> </a:t>
            </a:r>
            <a:r>
              <a:rPr lang="es-ES" u="sng">
                <a:hlinkClick r:id="rId3" tooltip=""/>
              </a:rPr>
              <a:t>Associate</a:t>
            </a:r>
            <a:r>
              <a:rPr lang="es-ES" u="sng">
                <a:hlinkClick r:id="rId3" tooltip=""/>
              </a:rPr>
              <a:t>, Java | Oracle </a:t>
            </a:r>
            <a:r>
              <a:rPr lang="es-ES" u="sng">
                <a:hlinkClick r:id="rId3" tooltip=""/>
              </a:rPr>
              <a:t>University</a:t>
            </a:r>
            <a:endParaRPr lang="es-ES">
              <a:solidFill>
                <a:srgbClr val="191919"/>
              </a:solidFill>
              <a:latin typeface="Lato"/>
            </a:endParaRPr>
          </a:p>
          <a:p>
            <a:pPr algn="l">
              <a:buFont typeface="Wingdings"/>
              <a:buChar char="q"/>
              <a:defRPr/>
            </a:pPr>
            <a:endParaRPr lang="es-ES">
              <a:solidFill>
                <a:srgbClr val="191919"/>
              </a:solidFill>
              <a:latin typeface="Lato"/>
            </a:endParaRPr>
          </a:p>
          <a:p>
            <a:pPr algn="l">
              <a:buFont typeface="Wingdings"/>
              <a:buChar char="q"/>
              <a:defRPr/>
            </a:pPr>
            <a:endParaRPr lang="es-ES">
              <a:solidFill>
                <a:srgbClr val="191919"/>
              </a:solidFill>
              <a:latin typeface="Lato"/>
            </a:endParaRPr>
          </a:p>
          <a:p>
            <a:pPr marL="0" indent="0" algn="l">
              <a:buNone/>
              <a:defRPr/>
            </a:pPr>
            <a:endParaRPr lang="es-ES"/>
          </a:p>
          <a:p>
            <a:pPr lvl="1">
              <a:buFont typeface="Arial"/>
              <a:buChar char="•"/>
              <a:defRPr/>
            </a:pPr>
            <a:endParaRPr lang="es-ES"/>
          </a:p>
        </p:txBody>
      </p:sp>
      <p:pic>
        <p:nvPicPr>
          <p:cNvPr id="1343985547" name="Imagen 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827659" y="3289041"/>
            <a:ext cx="6267061" cy="27705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6412635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Contacto</a:t>
            </a:r>
            <a:endParaRPr lang="es-ES"/>
          </a:p>
        </p:txBody>
      </p:sp>
      <p:sp>
        <p:nvSpPr>
          <p:cNvPr id="1951025108" name="Marcador de contenido 2"/>
          <p:cNvSpPr>
            <a:spLocks noGrp="1"/>
          </p:cNvSpPr>
          <p:nvPr>
            <p:ph idx="1"/>
          </p:nvPr>
        </p:nvSpPr>
        <p:spPr bwMode="auto">
          <a:xfrm>
            <a:off x="1097280" y="1845733"/>
            <a:ext cx="10058400" cy="4601719"/>
          </a:xfrm>
        </p:spPr>
        <p:txBody>
          <a:bodyPr>
            <a:normAutofit/>
          </a:bodyPr>
          <a:lstStyle/>
          <a:p>
            <a:pPr algn="l">
              <a:buFont typeface="Wingdings"/>
              <a:buChar char="q"/>
              <a:defRPr/>
            </a:pPr>
            <a:r>
              <a:rPr lang="es-ES" b="0" i="0">
                <a:solidFill>
                  <a:srgbClr val="191919"/>
                </a:solidFill>
                <a:latin typeface="Lato"/>
              </a:rPr>
              <a:t> </a:t>
            </a:r>
            <a:r>
              <a:rPr lang="es-ES">
                <a:solidFill>
                  <a:srgbClr val="191919"/>
                </a:solidFill>
                <a:latin typeface="Lato"/>
              </a:rPr>
              <a:t>Profesor: Javier Guillén Benavente</a:t>
            </a:r>
            <a:endParaRPr/>
          </a:p>
          <a:p>
            <a:pPr algn="l">
              <a:buFont typeface="Wingdings"/>
              <a:buChar char="q"/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 Email: </a:t>
            </a:r>
            <a:r>
              <a:rPr lang="es-ES" u="sng">
                <a:solidFill>
                  <a:srgbClr val="191919"/>
                </a:solidFill>
                <a:latin typeface="Lato"/>
                <a:hlinkClick r:id="rId3" tooltip=""/>
              </a:rPr>
              <a:t>jguiben709@g.educaand.es</a:t>
            </a:r>
            <a:endParaRPr lang="es-ES">
              <a:solidFill>
                <a:srgbClr val="191919"/>
              </a:solidFill>
              <a:latin typeface="Lato"/>
            </a:endParaRPr>
          </a:p>
          <a:p>
            <a:pPr algn="l">
              <a:buFont typeface="Wingdings"/>
              <a:buChar char="q"/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 </a:t>
            </a:r>
            <a:r>
              <a:rPr lang="es-ES">
                <a:solidFill>
                  <a:srgbClr val="191919"/>
                </a:solidFill>
                <a:latin typeface="Lato"/>
              </a:rPr>
              <a:t>Github</a:t>
            </a:r>
            <a:r>
              <a:rPr lang="es-ES">
                <a:solidFill>
                  <a:srgbClr val="191919"/>
                </a:solidFill>
                <a:latin typeface="Lato"/>
              </a:rPr>
              <a:t>: </a:t>
            </a:r>
            <a:r>
              <a:rPr lang="es-ES" u="sng">
                <a:solidFill>
                  <a:srgbClr val="191919"/>
                </a:solidFill>
                <a:latin typeface="Lato"/>
                <a:hlinkClick r:id="rId4" tooltip=""/>
              </a:rPr>
              <a:t>https://github.com/jjguillen</a:t>
            </a:r>
            <a:endParaRPr lang="es-ES">
              <a:solidFill>
                <a:srgbClr val="191919"/>
              </a:solidFill>
              <a:latin typeface="Lato"/>
            </a:endParaRPr>
          </a:p>
          <a:p>
            <a:pPr algn="l">
              <a:buFont typeface="Wingdings"/>
              <a:buChar char="q"/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 Curso Moodle Centros: </a:t>
            </a:r>
            <a:r>
              <a:rPr lang="es-ES" u="sng">
                <a:hlinkClick r:id="rId5" tooltip=""/>
              </a:rPr>
              <a:t>Curso: Programación (juntadeandalucia.es)</a:t>
            </a:r>
            <a:endParaRPr lang="es-ES"/>
          </a:p>
          <a:p>
            <a:pPr algn="l">
              <a:buFont typeface="Wingdings"/>
              <a:buChar char="q"/>
              <a:defRPr/>
            </a:pPr>
            <a:endParaRPr lang="es-ES"/>
          </a:p>
          <a:p>
            <a:pPr marL="201168" lvl="1" indent="0">
              <a:buNone/>
              <a:defRPr/>
            </a:pP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985861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Fin</a:t>
            </a:r>
            <a:endParaRPr lang="es-ES"/>
          </a:p>
        </p:txBody>
      </p:sp>
      <p:sp>
        <p:nvSpPr>
          <p:cNvPr id="686912881" name="Marcador de contenido 2"/>
          <p:cNvSpPr>
            <a:spLocks noGrp="1"/>
          </p:cNvSpPr>
          <p:nvPr>
            <p:ph idx="1"/>
          </p:nvPr>
        </p:nvSpPr>
        <p:spPr bwMode="auto">
          <a:xfrm>
            <a:off x="934927" y="2043403"/>
            <a:ext cx="5191553" cy="3274908"/>
          </a:xfrm>
        </p:spPr>
        <p:txBody>
          <a:bodyPr>
            <a:normAutofit/>
          </a:bodyPr>
          <a:lstStyle/>
          <a:p>
            <a:pPr algn="l">
              <a:buFont typeface="Wingdings"/>
              <a:buChar char="q"/>
              <a:defRPr/>
            </a:pPr>
            <a:r>
              <a:rPr lang="es-ES" b="0" i="0">
                <a:solidFill>
                  <a:srgbClr val="191919"/>
                </a:solidFill>
                <a:latin typeface="Lato"/>
              </a:rPr>
              <a:t> </a:t>
            </a:r>
            <a:r>
              <a:rPr lang="es-ES">
                <a:solidFill>
                  <a:srgbClr val="191919"/>
                </a:solidFill>
                <a:latin typeface="Lato"/>
              </a:rPr>
              <a:t>Si queréis ser programadores esta es la materia con la que vais a aprender a serlo.</a:t>
            </a:r>
            <a:endParaRPr/>
          </a:p>
          <a:p>
            <a:pPr algn="l">
              <a:buFont typeface="Wingdings"/>
              <a:buChar char="q"/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 Es muy importante preguntar lo que no entendáis sin miedo ni vergüenza.</a:t>
            </a:r>
            <a:endParaRPr/>
          </a:p>
          <a:p>
            <a:pPr algn="l">
              <a:buFont typeface="Wingdings"/>
              <a:buChar char="q"/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 Hay que trabajar mucho en casa y hacer muchos ejercicios, no hay </a:t>
            </a:r>
            <a:r>
              <a:rPr lang="es-ES">
                <a:solidFill>
                  <a:srgbClr val="191919"/>
                </a:solidFill>
                <a:latin typeface="Lato"/>
              </a:rPr>
              <a:t>que rendirse.</a:t>
            </a:r>
            <a:endParaRPr lang="es-ES">
              <a:solidFill>
                <a:srgbClr val="191919"/>
              </a:solidFill>
              <a:latin typeface="Lato"/>
            </a:endParaRPr>
          </a:p>
          <a:p>
            <a:pPr algn="l">
              <a:buFont typeface="Wingdings"/>
              <a:buChar char="q"/>
              <a:defRPr/>
            </a:pPr>
            <a:r>
              <a:rPr lang="es-ES">
                <a:solidFill>
                  <a:srgbClr val="191919"/>
                </a:solidFill>
                <a:latin typeface="Lato"/>
              </a:rPr>
              <a:t> Mucho ánimo y suerte !!!</a:t>
            </a:r>
            <a:endParaRPr/>
          </a:p>
          <a:p>
            <a:pPr algn="l">
              <a:buFont typeface="Wingdings"/>
              <a:buChar char="q"/>
              <a:defRPr/>
            </a:pPr>
            <a:endParaRPr lang="es-ES">
              <a:solidFill>
                <a:srgbClr val="191919"/>
              </a:solidFill>
              <a:latin typeface="Lato"/>
            </a:endParaRPr>
          </a:p>
          <a:p>
            <a:pPr algn="l">
              <a:buFont typeface="Wingdings"/>
              <a:buChar char="q"/>
              <a:defRPr/>
            </a:pPr>
            <a:endParaRPr lang="es-ES">
              <a:solidFill>
                <a:srgbClr val="191919"/>
              </a:solidFill>
              <a:latin typeface="Lato"/>
            </a:endParaRPr>
          </a:p>
          <a:p>
            <a:pPr marL="0" indent="0" algn="l">
              <a:buNone/>
              <a:defRPr/>
            </a:pPr>
            <a:endParaRPr lang="es-ES"/>
          </a:p>
          <a:p>
            <a:pPr algn="l">
              <a:buFont typeface="Wingdings"/>
              <a:buChar char="q"/>
              <a:defRPr/>
            </a:pPr>
            <a:endParaRPr lang="es-ES"/>
          </a:p>
          <a:p>
            <a:pPr marL="201168" lvl="1" indent="0">
              <a:buNone/>
              <a:defRPr/>
            </a:pPr>
            <a:endParaRPr lang="es-ES"/>
          </a:p>
        </p:txBody>
      </p:sp>
      <p:pic>
        <p:nvPicPr>
          <p:cNvPr id="1438665895" name="Imagen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26480" y="2043403"/>
            <a:ext cx="5623250" cy="32749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Retrospección"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/>
        </a:gradFill>
        <a:gradFill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programación</dc:title>
  <dc:creator>Familia Guillén Linares</dc:creator>
  <cp:lastModifiedBy/>
  <cp:revision>130</cp:revision>
  <dcterms:created xsi:type="dcterms:W3CDTF">2020-09-14T10:57:25Z</dcterms:created>
  <dcterms:modified xsi:type="dcterms:W3CDTF">2026-09-08T08:32:12Z</dcterms:modified>
</cp:coreProperties>
</file>